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harts/chart1.xml" ContentType="application/vnd.openxmlformats-officedocument.drawingml.chart+xml"/>
  <Override PartName="/ppt/notesSlides/notesSlide35.xml" ContentType="application/vnd.openxmlformats-officedocument.presentationml.notesSlide+xml"/>
  <Override PartName="/ppt/charts/chart2.xml" ContentType="application/vnd.openxmlformats-officedocument.drawingml.chart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9" Type="http://schemas.openxmlformats.org/officeDocument/2006/relationships/slide" Target="slides/slide38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34" Type="http://schemas.openxmlformats.org/officeDocument/2006/relationships/slide" Target="slides/slide33.xml" /><Relationship Id="rId42" Type="http://schemas.openxmlformats.org/officeDocument/2006/relationships/slide" Target="slides/slide41.xml" /><Relationship Id="rId47" Type="http://schemas.openxmlformats.org/officeDocument/2006/relationships/tableStyles" Target="tableStyle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38" Type="http://schemas.openxmlformats.org/officeDocument/2006/relationships/slide" Target="slides/slide37.xml" /><Relationship Id="rId46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41" Type="http://schemas.openxmlformats.org/officeDocument/2006/relationships/slide" Target="slides/slide40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slide" Target="slides/slide36.xml" /><Relationship Id="rId40" Type="http://schemas.openxmlformats.org/officeDocument/2006/relationships/slide" Target="slides/slide39.xml" /><Relationship Id="rId45" Type="http://schemas.openxmlformats.org/officeDocument/2006/relationships/viewProps" Target="viewProp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slide" Target="slides/slide35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4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slide" Target="slides/slide34.xml" /><Relationship Id="rId43" Type="http://schemas.openxmlformats.org/officeDocument/2006/relationships/notesMaster" Target="notesMasters/notesMaster1.xml" 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 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Dayandığı en düşük sıcaklık (°C)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4302A"/>
                    </a:solidFill>
                    <a:latin typeface="Calibri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Pırasa</c:v>
                </c:pt>
                <c:pt idx="1">
                  <c:v>Soğan</c:v>
                </c:pt>
                <c:pt idx="2">
                  <c:v>Ispanak</c:v>
                </c:pt>
                <c:pt idx="3">
                  <c:v>Brokoli</c:v>
                </c:pt>
                <c:pt idx="4">
                  <c:v>Havuç</c:v>
                </c:pt>
                <c:pt idx="5">
                  <c:v>Turp</c:v>
                </c:pt>
                <c:pt idx="6">
                  <c:v>Karnabahar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-15</c:v>
                </c:pt>
                <c:pt idx="1">
                  <c:v>-12</c:v>
                </c:pt>
                <c:pt idx="2">
                  <c:v>-12</c:v>
                </c:pt>
                <c:pt idx="3">
                  <c:v>-6</c:v>
                </c:pt>
                <c:pt idx="4">
                  <c:v>-5</c:v>
                </c:pt>
                <c:pt idx="5">
                  <c:v>-4</c:v>
                </c:pt>
                <c:pt idx="6">
                  <c:v>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6F-DF41-A9FD-0651177982B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24302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"/>
          <c:min val="-18"/>
        </c:scaling>
        <c:delete val="0"/>
        <c:axPos val="l"/>
        <c:majorGridlines>
          <c:spPr>
            <a:ln w="12700" cap="flat">
              <a:solidFill>
                <a:srgbClr val="E2E8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B7A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Gün</c:v>
                </c:pt>
              </c:strCache>
            </c:strRef>
          </c:tx>
          <c:spPr>
            <a:solidFill>
              <a:srgbClr val="D2691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4302A"/>
                    </a:solidFill>
                    <a:latin typeface="Calibri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Turp</c:v>
                </c:pt>
                <c:pt idx="1">
                  <c:v>Ispanak</c:v>
                </c:pt>
                <c:pt idx="2">
                  <c:v>Brokoli</c:v>
                </c:pt>
                <c:pt idx="3">
                  <c:v>Karnabahar</c:v>
                </c:pt>
                <c:pt idx="4">
                  <c:v>Havuç</c:v>
                </c:pt>
                <c:pt idx="5">
                  <c:v>Pırasa</c:v>
                </c:pt>
                <c:pt idx="6">
                  <c:v>Soğan (kışlık)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35</c:v>
                </c:pt>
                <c:pt idx="1">
                  <c:v>50</c:v>
                </c:pt>
                <c:pt idx="2">
                  <c:v>95</c:v>
                </c:pt>
                <c:pt idx="3">
                  <c:v>105</c:v>
                </c:pt>
                <c:pt idx="4">
                  <c:v>115</c:v>
                </c:pt>
                <c:pt idx="5">
                  <c:v>165</c:v>
                </c:pt>
                <c:pt idx="6">
                  <c:v>240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4E-4143-A92E-9B4B15914CE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24302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B7A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FD4CE4-D9CE-B249-A926-4790C0915351}" type="datetimeFigureOut">
              <a:rPr lang="tr-TR" smtClean="0"/>
              <a:t>18.08.2026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CB3FDF-E434-1B4F-8474-5C56EF87954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22987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 /><Relationship Id="rId1" Type="http://schemas.openxmlformats.org/officeDocument/2006/relationships/notesMaster" Target="../notesMasters/notesMaster1.xml" 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 /><Relationship Id="rId1" Type="http://schemas.openxmlformats.org/officeDocument/2006/relationships/notesMaster" Target="../notesMasters/notesMaster1.xml" 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 /><Relationship Id="rId1" Type="http://schemas.openxmlformats.org/officeDocument/2006/relationships/notesMaster" Target="../notesMasters/notesMaster1.xml" 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 /><Relationship Id="rId1" Type="http://schemas.openxmlformats.org/officeDocument/2006/relationships/notesMaster" Target="../notesMasters/notesMaster1.xml" 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 /><Relationship Id="rId1" Type="http://schemas.openxmlformats.org/officeDocument/2006/relationships/notesMaster" Target="../notesMasters/notesMaster1.xml" 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 /><Relationship Id="rId1" Type="http://schemas.openxmlformats.org/officeDocument/2006/relationships/notesMaster" Target="../notesMasters/notesMaster1.xml" 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 /><Relationship Id="rId1" Type="http://schemas.openxmlformats.org/officeDocument/2006/relationships/notesMaster" Target="../notesMasters/notesMaster1.xml" 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 /><Relationship Id="rId1" Type="http://schemas.openxmlformats.org/officeDocument/2006/relationships/notesMaster" Target="../notesMasters/notesMaster1.xml" 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 /><Relationship Id="rId1" Type="http://schemas.openxmlformats.org/officeDocument/2006/relationships/notesMaster" Target="../notesMasters/notesMaster1.xml" 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 /><Relationship Id="rId1" Type="http://schemas.openxmlformats.org/officeDocument/2006/relationships/notesMaster" Target="../notesMasters/notesMaster1.xml" 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 /><Relationship Id="rId1" Type="http://schemas.openxmlformats.org/officeDocument/2006/relationships/notesMaster" Target="../notesMasters/notesMaster1.xml" 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 /><Relationship Id="rId1" Type="http://schemas.openxmlformats.org/officeDocument/2006/relationships/notesMaster" Target="../notesMasters/notesMaster1.xml" 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Açılış slaytı. Katılımcılara programın kapsamını ve hangi sebzelerin ele alınacağını kısaca tanıtın.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Eğitimin akışını özetleyin. Katılımcılara soruları bölüm sonlarında sorabileceklerini belirtin.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 tarihleri uzun yıllar ortalamasıdır; yıldan yıla 10-15 gün kayabilir. Katılımcıları kendi bostanlarında minimum-maksimum termometre bulundurmaya teşvik edin.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Katılımcılara kendi bostan parsellerinde yaz ürünü sonrası boş kalan alanı sorun; somut örnek üzerinden ilerleyin.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Tabloyu fotoğraflamalarını önerin. Tarihlerin çeşide göre değişebileceğini vurgulayın.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Etiket okumayı gösterin: üretim yılı, çimlenme oranı, safiyet, parti numarası.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Tartışmayı ideolojik değil pratik zeminde tutun: amaç katılımcının kendi koşuluna uygun seçimi yapabilmesi.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Havuç ve pırasada geç çimlenme normaldir; katılımcılar 'çıkmadı' diye erken vazgeçmemeli.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Kavanoz + pirinç yöntemini fiilen gösterin. Etiketleme alışkanlığının önemini vurgulayın.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Avuç testini sınıfta uygulatın. Herkes kendi bostanından bir avuç toprak getirebilir.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İl Tarım ve Orman Müdürlüğü ile yetkili özel laboratuvarların analiz hizmetinden söz edin.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Kompost yığınında karbon/azot dengesini hatırlatın: kuru materyal ile yeşil materyal yaklaşık 3'e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Derin bellemenin (toprağı alt üst etmenin) toprak canlılığına zarar verdiğini, gevşetmenin yeterli olduğunu anlatın.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Örtüyü akşam kapatıp sabah havalandırmanın önemini anlatın; kapalı kalan tünelde nem hastalığı çıkar.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Katılımcılara parsel krokisi çizip her yıl ne ektiklerini not etmelerini önerin.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Sertleştirme (hardening off) adımının atlanmasının en sık yapılan hatalardan biri olduğunu vurgulayın.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Brokoli – künye slaytı. Tarihler Ankara ortalamalarıdır; katılımcıların not almasına zaman tanıyın.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Brokoli – bakım slaytı. Sorunlar bölümünde katılımcıların kendi deneyimlerini paylaşmasını isteyin.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Karnabahar – künye slaytı. Tarihler Ankara ortalamalarıdır; katılımcıların not almasına zaman tanıyın.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Karnabahar – bakım slaytı. Sorunlar bölümünde katılımcıların kendi deneyimlerini paylaşmasını isteyin.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Ispanak – künye slaytı. Tarihler Ankara ortalamalarıdır; katılımcıların not almasına zaman tanıyın.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Ispanak – bakım slaytı. Sorunlar bölümünde katılımcıların kendi deneyimlerini paylaşmasını isteyin.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Turp – künye slaytı. Tarihler Ankara ortalamalarıdır; katılımcıların not almasına zaman tanıyın.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Turp – bakım slaytı. Sorunlar bölümünde katılımcıların kendi deneyimlerini paylaşmasını isteyin.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Soğan – künye slaytı. Tarihler Ankara ortalamalarıdır; katılımcıların not almasına zaman tanıyın.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Soğan – bakım slaytı. Sorunlar bölümünde katılımcıların kendi deneyimlerini paylaşmasını isteyin.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Pırasa – künye slaytı. Tarihler Ankara ortalamalarıdır; katılımcıların not almasına zaman tanıyın.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Pırasa – bakım slaytı. Sorunlar bölümünde katılımcıların kendi deneyimlerini paylaşmasını isteyin.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Havuç – künye slaytı. Tarihler Ankara ortalamalarıdır; katılımcıların not almasına zaman tanıyın.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Havuç – bakım slaytı. Sorunlar bölümünde katılımcıların kendi deneyimlerini paylaşmasını isteyin.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Grafikteki değerler olgun bitkiler içindir; genç fideler daha hassastır.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Süreler çeşide ve yıla göre değişir; katılımcılara kendi kayıtlarını tutmalarını önerin.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Aşırı sulamanın da az sulama kadar zararlı olduğunu, köklerin havasız kaldığını anlatın.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Kimyasal mücadeleye ancak zorunlu hallerde ve etiketine uygun şekilde başvurulmalı; hasat aralığına mutlaka uyulmalı.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Bostan ölçeğinde soğuk hava deposu olmadığı için serin kiler, garaj veya kuzey balkon alternatiflerinden söz edin.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hatayı bir katılımcı deneyimiyle ilişkilendirmeye çalışın; bu slayt tartışmayı açmak için iyi bir zemin.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Kapanışta bir sonraki dersin konusunu ve tarihini hatırlatın.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1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1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1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1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1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 /><Relationship Id="rId1" Type="http://schemas.openxmlformats.org/officeDocument/2006/relationships/slideLayout" Target="../slideLayouts/slideLayout1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 /><Relationship Id="rId1" Type="http://schemas.openxmlformats.org/officeDocument/2006/relationships/slideLayout" Target="../slideLayouts/slideLayout1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 /><Relationship Id="rId1" Type="http://schemas.openxmlformats.org/officeDocument/2006/relationships/slideLayout" Target="../slideLayouts/slideLayout1.xml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 /><Relationship Id="rId1" Type="http://schemas.openxmlformats.org/officeDocument/2006/relationships/slideLayout" Target="../slideLayouts/slideLayout1.xml" 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 /><Relationship Id="rId1" Type="http://schemas.openxmlformats.org/officeDocument/2006/relationships/slideLayout" Target="../slideLayouts/slideLayout1.xml" 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 /><Relationship Id="rId1" Type="http://schemas.openxmlformats.org/officeDocument/2006/relationships/slideLayout" Target="../slideLayouts/slideLayout1.xml" 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 /><Relationship Id="rId1" Type="http://schemas.openxmlformats.org/officeDocument/2006/relationships/slideLayout" Target="../slideLayouts/slideLayout1.xml" 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 /><Relationship Id="rId1" Type="http://schemas.openxmlformats.org/officeDocument/2006/relationships/slideLayout" Target="../slideLayouts/slideLayout1.xml" 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 /><Relationship Id="rId1" Type="http://schemas.openxmlformats.org/officeDocument/2006/relationships/slideLayout" Target="../slideLayouts/slideLayout1.xml" 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 /><Relationship Id="rId1" Type="http://schemas.openxmlformats.org/officeDocument/2006/relationships/slideLayout" Target="../slideLayouts/slideLayout1.xml" 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 /><Relationship Id="rId1" Type="http://schemas.openxmlformats.org/officeDocument/2006/relationships/slideLayout" Target="../slideLayouts/slideLayout1.xml" 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 /><Relationship Id="rId1" Type="http://schemas.openxmlformats.org/officeDocument/2006/relationships/slideLayout" Target="../slideLayouts/slideLayout1.xml" 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 /><Relationship Id="rId1" Type="http://schemas.openxmlformats.org/officeDocument/2006/relationships/slideLayout" Target="../slideLayouts/slideLayout1.xml" 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 /><Relationship Id="rId1" Type="http://schemas.openxmlformats.org/officeDocument/2006/relationships/slideLayout" Target="../slideLayouts/slideLayout1.xml" 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 /><Relationship Id="rId1" Type="http://schemas.openxmlformats.org/officeDocument/2006/relationships/slideLayout" Target="../slideLayouts/slideLayout1.xml" 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 /><Relationship Id="rId2" Type="http://schemas.openxmlformats.org/officeDocument/2006/relationships/notesSlide" Target="../notesSlides/notesSlide34.xml" /><Relationship Id="rId1" Type="http://schemas.openxmlformats.org/officeDocument/2006/relationships/slideLayout" Target="../slideLayouts/slideLayout1.xml" 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 /><Relationship Id="rId2" Type="http://schemas.openxmlformats.org/officeDocument/2006/relationships/notesSlide" Target="../notesSlides/notesSlide35.xml" /><Relationship Id="rId1" Type="http://schemas.openxmlformats.org/officeDocument/2006/relationships/slideLayout" Target="../slideLayouts/slideLayout1.xml" 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 /><Relationship Id="rId1" Type="http://schemas.openxmlformats.org/officeDocument/2006/relationships/slideLayout" Target="../slideLayouts/slideLayout1.xml" 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 /><Relationship Id="rId1" Type="http://schemas.openxmlformats.org/officeDocument/2006/relationships/slideLayout" Target="../slideLayouts/slideLayout1.xml" 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 /><Relationship Id="rId1" Type="http://schemas.openxmlformats.org/officeDocument/2006/relationships/slideLayout" Target="../slideLayouts/slideLayout1.xml" 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 /><Relationship Id="rId1" Type="http://schemas.openxmlformats.org/officeDocument/2006/relationships/slideLayout" Target="../slideLayouts/slideLayout1.xml" 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 /><Relationship Id="rId1" Type="http://schemas.openxmlformats.org/officeDocument/2006/relationships/slideLayout" Target="../slideLayouts/slideLayout1.xml" 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737360"/>
            <a:ext cx="5120640" cy="512064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10332720" y="3200400"/>
            <a:ext cx="3291840" cy="3291840"/>
          </a:xfrm>
          <a:prstGeom prst="ellipse">
            <a:avLst/>
          </a:prstGeom>
          <a:solidFill>
            <a:srgbClr val="27492C"/>
          </a:solidFill>
          <a:ln w="12700">
            <a:solidFill>
              <a:srgbClr val="27492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9692640" y="2377440"/>
            <a:ext cx="1371600" cy="1371600"/>
          </a:xfrm>
          <a:prstGeom prst="ellipse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ÇANKAYA BELEDİYESİ · KENT BOSTANI EĞİTİMLERİ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481328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Ankara'da Güzlük ve</a:t>
            </a:r>
            <a:endParaRPr lang="en-US" sz="42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Kışlık Sebze Yetiştiriciliği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94360" y="3310128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D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Tohum seçiminden toprak hazırlığına, ekimden hasada kadar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D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karasal iklim koşullarında uygulamalı bir rehber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4343400"/>
            <a:ext cx="1083564" cy="384048"/>
          </a:xfrm>
          <a:prstGeom prst="roundRect">
            <a:avLst>
              <a:gd name="adj" fmla="val 47619"/>
            </a:avLst>
          </a:prstGeom>
          <a:solidFill>
            <a:srgbClr val="27492C"/>
          </a:solidFill>
          <a:ln w="12700">
            <a:solidFill>
              <a:srgbClr val="3E6B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594360" y="4343400"/>
            <a:ext cx="10835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C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Brokoli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824228" y="4343400"/>
            <a:ext cx="1399032" cy="384048"/>
          </a:xfrm>
          <a:prstGeom prst="roundRect">
            <a:avLst>
              <a:gd name="adj" fmla="val 47619"/>
            </a:avLst>
          </a:prstGeom>
          <a:solidFill>
            <a:srgbClr val="27492C"/>
          </a:solidFill>
          <a:ln w="12700">
            <a:solidFill>
              <a:srgbClr val="3E6B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1824228" y="4343400"/>
            <a:ext cx="1399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C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Karnabahar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69564" y="4343400"/>
            <a:ext cx="1083564" cy="384048"/>
          </a:xfrm>
          <a:prstGeom prst="roundRect">
            <a:avLst>
              <a:gd name="adj" fmla="val 47619"/>
            </a:avLst>
          </a:prstGeom>
          <a:solidFill>
            <a:srgbClr val="27492C"/>
          </a:solidFill>
          <a:ln w="12700">
            <a:solidFill>
              <a:srgbClr val="3E6B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3369564" y="4343400"/>
            <a:ext cx="10835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C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Ispanak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99432" y="4343400"/>
            <a:ext cx="768096" cy="384048"/>
          </a:xfrm>
          <a:prstGeom prst="roundRect">
            <a:avLst>
              <a:gd name="adj" fmla="val 47619"/>
            </a:avLst>
          </a:prstGeom>
          <a:solidFill>
            <a:srgbClr val="27492C"/>
          </a:solidFill>
          <a:ln w="12700">
            <a:solidFill>
              <a:srgbClr val="3E6B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4599432" y="4343400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C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Turp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513832" y="4343400"/>
            <a:ext cx="873252" cy="384048"/>
          </a:xfrm>
          <a:prstGeom prst="roundRect">
            <a:avLst>
              <a:gd name="adj" fmla="val 47619"/>
            </a:avLst>
          </a:prstGeom>
          <a:solidFill>
            <a:srgbClr val="27492C"/>
          </a:solidFill>
          <a:ln w="12700">
            <a:solidFill>
              <a:srgbClr val="3E6B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5513832" y="4343400"/>
            <a:ext cx="8732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C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Soğan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33388" y="4343400"/>
            <a:ext cx="978408" cy="384048"/>
          </a:xfrm>
          <a:prstGeom prst="roundRect">
            <a:avLst>
              <a:gd name="adj" fmla="val 47619"/>
            </a:avLst>
          </a:prstGeom>
          <a:solidFill>
            <a:srgbClr val="27492C"/>
          </a:solidFill>
          <a:ln w="12700">
            <a:solidFill>
              <a:srgbClr val="3E6B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6533388" y="4343400"/>
            <a:ext cx="978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C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Pırasa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658100" y="4343400"/>
            <a:ext cx="873252" cy="384048"/>
          </a:xfrm>
          <a:prstGeom prst="roundRect">
            <a:avLst>
              <a:gd name="adj" fmla="val 47619"/>
            </a:avLst>
          </a:prstGeom>
          <a:solidFill>
            <a:srgbClr val="27492C"/>
          </a:solidFill>
          <a:ln w="12700">
            <a:solidFill>
              <a:srgbClr val="3E6B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7658100" y="4343400"/>
            <a:ext cx="8732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C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Havuç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94360" y="5257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 ve Bahçeler Müdürlüğü  ·  2026 Sonbahar Sezonu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943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Ankara · Güzlük–Kışlık Sebze Yetiştiriciliği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 sunumda neler var?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18488"/>
            <a:ext cx="475488" cy="47548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94360" y="1618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71016" y="1600200"/>
            <a:ext cx="4443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Ankara'nın iklimi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71016" y="1911096"/>
            <a:ext cx="4443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Karasal iklimin üretim takvimine etkisi, don tarihleri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3191256"/>
            <a:ext cx="475488" cy="47548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594360" y="31912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71016" y="3172968"/>
            <a:ext cx="4443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Tohum seçimi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71016" y="3483864"/>
            <a:ext cx="4443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Atalık ve hibrit tohum, çimlenme testi, doğru saklama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4764024"/>
            <a:ext cx="475488" cy="47548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594360" y="4764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71016" y="4745736"/>
            <a:ext cx="4443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Toprak hazırlığı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71016" y="5056632"/>
            <a:ext cx="4443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Toprak analizi, organik madde, tava ve yastık yapımı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1618488"/>
            <a:ext cx="475488" cy="47548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6217920" y="1618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94576" y="1600200"/>
            <a:ext cx="4443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Yedi sebze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94576" y="1911096"/>
            <a:ext cx="4443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Brokoli, karnabahar, ıspanak, turp, soğan, pırasa, havuç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17920" y="3191256"/>
            <a:ext cx="475488" cy="47548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6217920" y="31912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94576" y="3172968"/>
            <a:ext cx="4443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Bakım işleri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94576" y="3483864"/>
            <a:ext cx="4443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Sulama, gübreleme, hastalık–zararlı yönetimi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17920" y="4764024"/>
            <a:ext cx="475488" cy="47548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6217920" y="4764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894576" y="4745736"/>
            <a:ext cx="4443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Hasat ve saklama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94576" y="5056632"/>
            <a:ext cx="4443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Kışa hazırlık, don koruması, ürünü saklama yöntemleri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943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Ankara · Güzlük–Kışlık Sebze Yetiştiriciliği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BÖLGE KOŞULLARI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Ankara: Karasal iklimin kuralları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2025030" cy="960120"/>
          </a:xfrm>
          <a:prstGeom prst="roundRect">
            <a:avLst>
              <a:gd name="adj" fmla="val 7619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740664" y="1527048"/>
            <a:ext cx="17324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26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850–1000 m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04088" y="1929384"/>
            <a:ext cx="1805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Ortalama rakım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838846" y="1417320"/>
            <a:ext cx="2025030" cy="960120"/>
          </a:xfrm>
          <a:prstGeom prst="roundRect">
            <a:avLst>
              <a:gd name="adj" fmla="val 7619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2985150" y="1527048"/>
            <a:ext cx="17324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26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20–25 Ekim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948574" y="1929384"/>
            <a:ext cx="1805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sonbahar donu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83332" y="1417320"/>
            <a:ext cx="2025030" cy="960120"/>
          </a:xfrm>
          <a:prstGeom prst="roundRect">
            <a:avLst>
              <a:gd name="adj" fmla="val 7619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5229636" y="1527048"/>
            <a:ext cx="17324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26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−12 / −18 °C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193060" y="1929384"/>
            <a:ext cx="1805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Kış en düşük sıcaklık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27819" y="1417320"/>
            <a:ext cx="2025030" cy="960120"/>
          </a:xfrm>
          <a:prstGeom prst="roundRect">
            <a:avLst>
              <a:gd name="adj" fmla="val 7619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7474123" y="1527048"/>
            <a:ext cx="17324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26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380–420 mm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437547" y="1929384"/>
            <a:ext cx="1805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Yıllık yağış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572305" y="1417320"/>
            <a:ext cx="2025030" cy="960120"/>
          </a:xfrm>
          <a:prstGeom prst="roundRect">
            <a:avLst>
              <a:gd name="adj" fmla="val 7619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9718609" y="1527048"/>
            <a:ext cx="17324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26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15–20 Nisan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682033" y="1929384"/>
            <a:ext cx="1805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ilkbahar donu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4360" y="2606040"/>
            <a:ext cx="5349240" cy="2788920"/>
          </a:xfrm>
          <a:prstGeom prst="roundRect">
            <a:avLst>
              <a:gd name="adj" fmla="val 2951"/>
            </a:avLst>
          </a:prstGeom>
          <a:solidFill>
            <a:srgbClr val="EDF3E6"/>
          </a:solidFill>
          <a:ln w="12700">
            <a:solidFill>
              <a:srgbClr val="EDF3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832104" y="2761488"/>
            <a:ext cx="4873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 iklim bize ne söyler?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68680" y="3136392"/>
            <a:ext cx="4800600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 sıcakları temmuz–ağustosta 35 °C'yi aşar; serin sever türlerin fidesi bu dönemde gölgede yetiştirilmelidir.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Sonbahar donları ekim ayının ikinci yarısında başlar. Hasadı bu tarihten önce planlayın.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Kış aylarında toprak sık sık donar ve çözülür; bu döngü köklerin toprak yüzeyine itilmesine yol açar.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Yağış azdır ve düzensizdir; sonbahar ekimlerinde sulama zorunludur.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Gece–gündüz sıcaklık farkı yüksektir; bu fark ürün kalitesini artırır.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17920" y="2606040"/>
            <a:ext cx="5349240" cy="2788920"/>
          </a:xfrm>
          <a:prstGeom prst="roundRect">
            <a:avLst>
              <a:gd name="adj" fmla="val 2951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6455664" y="2761488"/>
            <a:ext cx="4873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Karasal iklimin avantajı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92240" y="3136392"/>
            <a:ext cx="4800600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Soğuk, serin sever sebzelerde tat ve kaliteyi artırır: ıspanak, pırasa ve brokoli dondan sonra tatlanır.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Kışın zararlı ve hastalık baskısı büyük ölçüde düşer; ilaçlamaya neredeyse hiç ihtiyaç kalmaz.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Düşük nem, mantari hastalıkların yayılmasını sınırlar.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 ve soğuk kış, kök sebzelerin toprakta saklanmasına imkân tanır.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Yabancı ot baskısı yaz dönemine göre belirgin şekilde azalır.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943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Ankara · Güzlük–Kışlık Sebze Yetiştiriciliği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GEREKÇE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Neden güzlük ve kışlık üretim?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499616"/>
            <a:ext cx="475488" cy="475488"/>
          </a:xfrm>
          <a:prstGeom prst="ellipse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94360" y="14996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71016" y="1481328"/>
            <a:ext cx="4443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Boş kalan toprağı değerlendirir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71016" y="1792224"/>
            <a:ext cx="4443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Yazlık ürün kaldırıldıktan sonra toprak beş ay boş kalır. Güzlük ekim bu süreyi üretime çevirir.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2980944"/>
            <a:ext cx="475488" cy="47548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594360" y="29809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71016" y="2962656"/>
            <a:ext cx="4443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Toprağı korur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71016" y="3273552"/>
            <a:ext cx="4443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Üzeri bitkiyle örtülü toprak, kış yağmurlarıyla yıkanmaz; besin maddesi kaybı azalır.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4462272"/>
            <a:ext cx="475488" cy="475488"/>
          </a:xfrm>
          <a:prstGeom prst="ellipse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594360" y="4462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71016" y="4443984"/>
            <a:ext cx="4443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Zararlı baskısı düşüktür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71016" y="4754880"/>
            <a:ext cx="4443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Serin dönemde böcek popülasyonu azalır; kimyasal ihtiyacı neredeyse ortadan kalkar.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1499616"/>
            <a:ext cx="475488" cy="47548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6217920" y="14996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94576" y="1481328"/>
            <a:ext cx="4443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Ürün daha lezzetlidir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94576" y="1792224"/>
            <a:ext cx="4443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Soğukta bitki nişastayı şekere çevirir; ıspanak, pırasa ve havuç belirgin şekilde tatlanır.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17920" y="2980944"/>
            <a:ext cx="475488" cy="475488"/>
          </a:xfrm>
          <a:prstGeom prst="ellipse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6217920" y="29809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94576" y="2962656"/>
            <a:ext cx="4443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Sulama ihtiyacı azalır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94576" y="3273552"/>
            <a:ext cx="4443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Buharlaşma düşük olduğundan yaz dönemine kıyasla çok daha az su kullanılır.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17920" y="4462272"/>
            <a:ext cx="475488" cy="47548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6217920" y="4462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894576" y="4443984"/>
            <a:ext cx="4443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Hasat dönemini uzatır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94576" y="4754880"/>
            <a:ext cx="4443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Kasımdan mart sonuna kadar bostandan taze ürün almak mümkün olur.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943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Ankara · Güzlük–Kışlık Sebze Yetiştiriciliği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PLANLAMA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Sonbahar–kış üretim takvimi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298448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Ankara koşulları için ortalama tarihler. Rakımı yüksek ve rüzgâra açık bostanlarda 7–10 gün erken davranın.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700784"/>
            <a:ext cx="2377440" cy="402336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740664" y="1700784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Sebze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971800" y="1700784"/>
            <a:ext cx="3383280" cy="402336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3118104" y="1700784"/>
            <a:ext cx="3163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Tohum ekimi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700784"/>
            <a:ext cx="2651760" cy="402336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6501384" y="1700784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 dikimi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006840" y="1700784"/>
            <a:ext cx="2590495" cy="402336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9153144" y="1700784"/>
            <a:ext cx="23710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Hasat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" y="2103120"/>
            <a:ext cx="2377440" cy="512064"/>
          </a:xfrm>
          <a:prstGeom prst="rect">
            <a:avLst/>
          </a:prstGeom>
          <a:solidFill>
            <a:srgbClr val="EDF3E6"/>
          </a:solidFill>
          <a:ln w="6350">
            <a:solidFill>
              <a:srgbClr val="DCE6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740664" y="2103120"/>
            <a:ext cx="2157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Brokoli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971800" y="2103120"/>
            <a:ext cx="3383280" cy="512064"/>
          </a:xfrm>
          <a:prstGeom prst="rect">
            <a:avLst/>
          </a:prstGeom>
          <a:solidFill>
            <a:srgbClr val="EDF3E6"/>
          </a:solidFill>
          <a:ln w="6350">
            <a:solidFill>
              <a:srgbClr val="DCE6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3118104" y="2103120"/>
            <a:ext cx="3163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Temmuz başı (fidelik)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55080" y="2103120"/>
            <a:ext cx="2651760" cy="512064"/>
          </a:xfrm>
          <a:prstGeom prst="rect">
            <a:avLst/>
          </a:prstGeom>
          <a:solidFill>
            <a:srgbClr val="EDF3E6"/>
          </a:solidFill>
          <a:ln w="6350">
            <a:solidFill>
              <a:srgbClr val="DCE6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6501384" y="2103120"/>
            <a:ext cx="24323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10–25 Ağustos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06840" y="2103120"/>
            <a:ext cx="2590495" cy="512064"/>
          </a:xfrm>
          <a:prstGeom prst="rect">
            <a:avLst/>
          </a:prstGeom>
          <a:solidFill>
            <a:srgbClr val="EDF3E6"/>
          </a:solidFill>
          <a:ln w="6350">
            <a:solidFill>
              <a:srgbClr val="DCE6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9153144" y="2103120"/>
            <a:ext cx="23710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Ekim – Kasım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" y="2615184"/>
            <a:ext cx="23774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CE6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740664" y="2615184"/>
            <a:ext cx="2157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Karnabahar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971800" y="2615184"/>
            <a:ext cx="3383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CE6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3118104" y="2615184"/>
            <a:ext cx="3163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Haziran sonu (fidelik)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55080" y="2615184"/>
            <a:ext cx="26517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CE6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6501384" y="2615184"/>
            <a:ext cx="24323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5–20 Ağustos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006840" y="2615184"/>
            <a:ext cx="2590495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CE6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9153144" y="2615184"/>
            <a:ext cx="23710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Ekim – Kasım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94360" y="3127248"/>
            <a:ext cx="2377440" cy="512064"/>
          </a:xfrm>
          <a:prstGeom prst="rect">
            <a:avLst/>
          </a:prstGeom>
          <a:solidFill>
            <a:srgbClr val="EDF3E6"/>
          </a:solidFill>
          <a:ln w="6350">
            <a:solidFill>
              <a:srgbClr val="DCE6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740664" y="3127248"/>
            <a:ext cx="2157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Ispanak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971800" y="3127248"/>
            <a:ext cx="3383280" cy="512064"/>
          </a:xfrm>
          <a:prstGeom prst="rect">
            <a:avLst/>
          </a:prstGeom>
          <a:solidFill>
            <a:srgbClr val="EDF3E6"/>
          </a:solidFill>
          <a:ln w="6350">
            <a:solidFill>
              <a:srgbClr val="DCE6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3118104" y="3127248"/>
            <a:ext cx="3163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Eylül – 5 Ekim (yerine)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55080" y="3127248"/>
            <a:ext cx="2651760" cy="512064"/>
          </a:xfrm>
          <a:prstGeom prst="rect">
            <a:avLst/>
          </a:prstGeom>
          <a:solidFill>
            <a:srgbClr val="EDF3E6"/>
          </a:solidFill>
          <a:ln w="6350">
            <a:solidFill>
              <a:srgbClr val="DCE6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6501384" y="3127248"/>
            <a:ext cx="24323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006840" y="3127248"/>
            <a:ext cx="2590495" cy="512064"/>
          </a:xfrm>
          <a:prstGeom prst="rect">
            <a:avLst/>
          </a:prstGeom>
          <a:solidFill>
            <a:srgbClr val="EDF3E6"/>
          </a:solidFill>
          <a:ln w="6350">
            <a:solidFill>
              <a:srgbClr val="DCE6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9153144" y="3127248"/>
            <a:ext cx="23710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Kasım ve Mart–Nisan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94360" y="3639312"/>
            <a:ext cx="23774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CE6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Text 36"/>
          <p:cNvSpPr/>
          <p:nvPr/>
        </p:nvSpPr>
        <p:spPr>
          <a:xfrm>
            <a:off x="740664" y="3639312"/>
            <a:ext cx="2157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Turp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971800" y="3639312"/>
            <a:ext cx="3383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CE6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Text 38"/>
          <p:cNvSpPr/>
          <p:nvPr/>
        </p:nvSpPr>
        <p:spPr>
          <a:xfrm>
            <a:off x="3118104" y="3639312"/>
            <a:ext cx="3163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Ağustos – 30 Eylül (yerine)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355080" y="3639312"/>
            <a:ext cx="26517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CE6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2" name="Text 40"/>
          <p:cNvSpPr/>
          <p:nvPr/>
        </p:nvSpPr>
        <p:spPr>
          <a:xfrm>
            <a:off x="6501384" y="3639312"/>
            <a:ext cx="24323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006840" y="3639312"/>
            <a:ext cx="2590495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CE6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4" name="Text 42"/>
          <p:cNvSpPr/>
          <p:nvPr/>
        </p:nvSpPr>
        <p:spPr>
          <a:xfrm>
            <a:off x="9153144" y="3639312"/>
            <a:ext cx="23710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Ekim – Aralık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94360" y="4151376"/>
            <a:ext cx="2377440" cy="512064"/>
          </a:xfrm>
          <a:prstGeom prst="rect">
            <a:avLst/>
          </a:prstGeom>
          <a:solidFill>
            <a:srgbClr val="EDF3E6"/>
          </a:solidFill>
          <a:ln w="6350">
            <a:solidFill>
              <a:srgbClr val="DCE6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6" name="Text 44"/>
          <p:cNvSpPr/>
          <p:nvPr/>
        </p:nvSpPr>
        <p:spPr>
          <a:xfrm>
            <a:off x="740664" y="4151376"/>
            <a:ext cx="2157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Soğan (kışlık)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2971800" y="4151376"/>
            <a:ext cx="3383280" cy="512064"/>
          </a:xfrm>
          <a:prstGeom prst="rect">
            <a:avLst/>
          </a:prstGeom>
          <a:solidFill>
            <a:srgbClr val="EDF3E6"/>
          </a:solidFill>
          <a:ln w="6350">
            <a:solidFill>
              <a:srgbClr val="DCE6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8" name="Text 46"/>
          <p:cNvSpPr/>
          <p:nvPr/>
        </p:nvSpPr>
        <p:spPr>
          <a:xfrm>
            <a:off x="3118104" y="4151376"/>
            <a:ext cx="3163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Arpacık / tohum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355080" y="4151376"/>
            <a:ext cx="2651760" cy="512064"/>
          </a:xfrm>
          <a:prstGeom prst="rect">
            <a:avLst/>
          </a:prstGeom>
          <a:solidFill>
            <a:srgbClr val="EDF3E6"/>
          </a:solidFill>
          <a:ln w="6350">
            <a:solidFill>
              <a:srgbClr val="DCE6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0" name="Text 48"/>
          <p:cNvSpPr/>
          <p:nvPr/>
        </p:nvSpPr>
        <p:spPr>
          <a:xfrm>
            <a:off x="6501384" y="4151376"/>
            <a:ext cx="24323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Ekim – 10 Kasım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9006840" y="4151376"/>
            <a:ext cx="2590495" cy="512064"/>
          </a:xfrm>
          <a:prstGeom prst="rect">
            <a:avLst/>
          </a:prstGeom>
          <a:solidFill>
            <a:srgbClr val="EDF3E6"/>
          </a:solidFill>
          <a:ln w="6350">
            <a:solidFill>
              <a:srgbClr val="DCE6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2" name="Text 50"/>
          <p:cNvSpPr/>
          <p:nvPr/>
        </p:nvSpPr>
        <p:spPr>
          <a:xfrm>
            <a:off x="9153144" y="4151376"/>
            <a:ext cx="23710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Haziran – Temmuz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94360" y="4663440"/>
            <a:ext cx="23774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CE6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4" name="Text 52"/>
          <p:cNvSpPr/>
          <p:nvPr/>
        </p:nvSpPr>
        <p:spPr>
          <a:xfrm>
            <a:off x="740664" y="4663440"/>
            <a:ext cx="2157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Pırasa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2971800" y="4663440"/>
            <a:ext cx="3383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CE6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6" name="Text 54"/>
          <p:cNvSpPr/>
          <p:nvPr/>
        </p:nvSpPr>
        <p:spPr>
          <a:xfrm>
            <a:off x="3118104" y="4663440"/>
            <a:ext cx="3163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Şubat–Mart (fidelik)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355080" y="4663440"/>
            <a:ext cx="26517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CE6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8" name="Text 56"/>
          <p:cNvSpPr/>
          <p:nvPr/>
        </p:nvSpPr>
        <p:spPr>
          <a:xfrm>
            <a:off x="6501384" y="4663440"/>
            <a:ext cx="24323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Haziran – Temmuz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9006840" y="4663440"/>
            <a:ext cx="2590495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CE6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0" name="Text 58"/>
          <p:cNvSpPr/>
          <p:nvPr/>
        </p:nvSpPr>
        <p:spPr>
          <a:xfrm>
            <a:off x="9153144" y="4663440"/>
            <a:ext cx="23710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Kasım – Şubat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594360" y="5175504"/>
            <a:ext cx="2377440" cy="512064"/>
          </a:xfrm>
          <a:prstGeom prst="rect">
            <a:avLst/>
          </a:prstGeom>
          <a:solidFill>
            <a:srgbClr val="EDF3E6"/>
          </a:solidFill>
          <a:ln w="6350">
            <a:solidFill>
              <a:srgbClr val="DCE6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2" name="Text 60"/>
          <p:cNvSpPr/>
          <p:nvPr/>
        </p:nvSpPr>
        <p:spPr>
          <a:xfrm>
            <a:off x="740664" y="5175504"/>
            <a:ext cx="2157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Havuç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2971800" y="5175504"/>
            <a:ext cx="3383280" cy="512064"/>
          </a:xfrm>
          <a:prstGeom prst="rect">
            <a:avLst/>
          </a:prstGeom>
          <a:solidFill>
            <a:srgbClr val="EDF3E6"/>
          </a:solidFill>
          <a:ln w="6350">
            <a:solidFill>
              <a:srgbClr val="DCE6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4" name="Text 62"/>
          <p:cNvSpPr/>
          <p:nvPr/>
        </p:nvSpPr>
        <p:spPr>
          <a:xfrm>
            <a:off x="3118104" y="5175504"/>
            <a:ext cx="3163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1–20 Ağustos (yerine)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6355080" y="5175504"/>
            <a:ext cx="2651760" cy="512064"/>
          </a:xfrm>
          <a:prstGeom prst="rect">
            <a:avLst/>
          </a:prstGeom>
          <a:solidFill>
            <a:srgbClr val="EDF3E6"/>
          </a:solidFill>
          <a:ln w="6350">
            <a:solidFill>
              <a:srgbClr val="DCE6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6" name="Text 64"/>
          <p:cNvSpPr/>
          <p:nvPr/>
        </p:nvSpPr>
        <p:spPr>
          <a:xfrm>
            <a:off x="6501384" y="5175504"/>
            <a:ext cx="24323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9006840" y="5175504"/>
            <a:ext cx="2590495" cy="512064"/>
          </a:xfrm>
          <a:prstGeom prst="rect">
            <a:avLst/>
          </a:prstGeom>
          <a:solidFill>
            <a:srgbClr val="EDF3E6"/>
          </a:solidFill>
          <a:ln w="6350">
            <a:solidFill>
              <a:srgbClr val="DCE6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8" name="Text 66"/>
          <p:cNvSpPr/>
          <p:nvPr/>
        </p:nvSpPr>
        <p:spPr>
          <a:xfrm>
            <a:off x="9153144" y="5175504"/>
            <a:ext cx="23710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Kasım – Aralık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594360" y="580644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İpucu:  Fide dikimi geciken brokoli ve karnabaharda alçak tünel veya agril örtü ile hasat 3–4 hafta uzatılabilir.</a:t>
            </a:r>
            <a:endParaRPr lang="en-US" sz="1250" dirty="0"/>
          </a:p>
        </p:txBody>
      </p:sp>
      <p:sp>
        <p:nvSpPr>
          <p:cNvPr id="71" name="Text 68"/>
          <p:cNvSpPr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2" name="Text 69"/>
          <p:cNvSpPr/>
          <p:nvPr/>
        </p:nvSpPr>
        <p:spPr>
          <a:xfrm>
            <a:off x="5943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Ankara · Güzlük–Kışlık Sebze Yetiştiriciliği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188720"/>
            <a:ext cx="4206240" cy="420624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27492C"/>
          </a:solidFill>
          <a:ln w="12700">
            <a:solidFill>
              <a:srgbClr val="27492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594360" y="2057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24231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Tohum Seçimi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94360" y="34015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9D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Bostandaki başarının yarısı, toprağa girmeden önce belirlenir.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97764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C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İyi tohumun beş temel özelliği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C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Atalık (yerel) tohum ile hibrit tohum arasındaki farklar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C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Evde çimlenme testi ve tohum canlılığı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C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Tohumun doğru saklanması ve ömrü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Ankara · Güzlük–Kışlık Sebze Yetiştiriciliği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TOHUM SEÇIMI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İyi tohumun beş özelliği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11002975" cy="786384"/>
          </a:xfrm>
          <a:prstGeom prst="roundRect">
            <a:avLst>
              <a:gd name="adj" fmla="val 9302"/>
            </a:avLst>
          </a:prstGeom>
          <a:solidFill>
            <a:srgbClr val="EDF3E6"/>
          </a:solidFill>
          <a:ln w="12700">
            <a:solidFill>
              <a:srgbClr val="EDF3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832104" y="1645920"/>
            <a:ext cx="420624" cy="42062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832104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35608" y="162763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Canlılık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566160" y="1591056"/>
            <a:ext cx="77568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Çimlenme oranı en az %80 olmalı. Eski tohumda oran hızla düşer; seyreltme yerine sık ekim gerekir.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" y="2359152"/>
            <a:ext cx="11002975" cy="786384"/>
          </a:xfrm>
          <a:prstGeom prst="roundRect">
            <a:avLst>
              <a:gd name="adj" fmla="val 9302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832104" y="2542032"/>
            <a:ext cx="420624" cy="42062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832104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35608" y="252374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Saflık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66160" y="2487168"/>
            <a:ext cx="77568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Yabancı ot tohumu, saman, toprak ve kırık tane içermemeli. Torbadaki safiyet oranına bakın.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" y="3255264"/>
            <a:ext cx="11002975" cy="786384"/>
          </a:xfrm>
          <a:prstGeom prst="roundRect">
            <a:avLst>
              <a:gd name="adj" fmla="val 9302"/>
            </a:avLst>
          </a:prstGeom>
          <a:solidFill>
            <a:srgbClr val="EDF3E6"/>
          </a:solidFill>
          <a:ln w="12700">
            <a:solidFill>
              <a:srgbClr val="EDF3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832104" y="3438144"/>
            <a:ext cx="420624" cy="42062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832104" y="3438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35608" y="341985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Sağlık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566160" y="3383280"/>
            <a:ext cx="77568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Lekeli, buruşuk, delikli tanelerde hastalık etmeni ve ambar zararlısı bulunabilir.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4360" y="4151376"/>
            <a:ext cx="11002975" cy="786384"/>
          </a:xfrm>
          <a:prstGeom prst="roundRect">
            <a:avLst>
              <a:gd name="adj" fmla="val 9302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832104" y="4334256"/>
            <a:ext cx="420624" cy="42062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832104" y="43342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35608" y="43159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Bölgeye uyum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566160" y="4279392"/>
            <a:ext cx="77568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Ankara'nın kısa sonbaharına yetişecek, erkenci ve soğuğa dayanıklı çeşitler seçilmeli.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94360" y="5047488"/>
            <a:ext cx="11002975" cy="786384"/>
          </a:xfrm>
          <a:prstGeom prst="roundRect">
            <a:avLst>
              <a:gd name="adj" fmla="val 9302"/>
            </a:avLst>
          </a:prstGeom>
          <a:solidFill>
            <a:srgbClr val="EDF3E6"/>
          </a:solidFill>
          <a:ln w="12700">
            <a:solidFill>
              <a:srgbClr val="EDF3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832104" y="5230368"/>
            <a:ext cx="420624" cy="42062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832104" y="5230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35608" y="5212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Bilinen kaynak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566160" y="5175504"/>
            <a:ext cx="77568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Sertifikalı satıcı ya da güvendiğiniz üreticiden alın; üretim yılı etikette yazmalı.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943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Ankara · Güzlük–Kışlık Sebze Yetiştiriciliği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KARŞILAŞTIRMA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Atalık (yerel) tohum mu, hibrit mi?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5349240" cy="2103120"/>
          </a:xfrm>
          <a:prstGeom prst="roundRect">
            <a:avLst>
              <a:gd name="adj" fmla="val 3913"/>
            </a:avLst>
          </a:prstGeom>
          <a:solidFill>
            <a:srgbClr val="EDF3E6"/>
          </a:solidFill>
          <a:ln w="12700">
            <a:solidFill>
              <a:srgbClr val="EDF3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832104" y="1572768"/>
            <a:ext cx="4873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Atalık / yerel tohum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1947672"/>
            <a:ext cx="480060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 tohumunuzu alabilir, yıllarca çoğaltabilirsiniz.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Lezzet ve koku genellikle daha belirgindir.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Bölgeye uyum sağlar, her yıl biraz daha iyi sonuç verir.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Verim ve tekdüzelik hibride göre düşüktür.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417320"/>
            <a:ext cx="5349240" cy="2103120"/>
          </a:xfrm>
          <a:prstGeom prst="roundRect">
            <a:avLst>
              <a:gd name="adj" fmla="val 3913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6455664" y="1572768"/>
            <a:ext cx="4873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Hibrit (F1) tohum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1947672"/>
            <a:ext cx="480060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Verim yüksek, bitkiler eş boyda ve aynı zamanda hasada gelir.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Bazı hastalıklara dayanıklılık ıslahla kazandırılmıştır.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Tohumu saklanamaz; her yıl yeniden satın alınır.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Maliyeti yüksektir.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3703320"/>
            <a:ext cx="11002975" cy="1234440"/>
          </a:xfrm>
          <a:prstGeom prst="roundRect">
            <a:avLst>
              <a:gd name="adj" fmla="val 6667"/>
            </a:avLst>
          </a:prstGeom>
          <a:solidFill>
            <a:srgbClr val="E8EFDF"/>
          </a:solidFill>
          <a:ln w="12700">
            <a:solidFill>
              <a:srgbClr val="E8EFD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832104" y="3858768"/>
            <a:ext cx="1052748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Bostan için pratik öneri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4233672"/>
            <a:ext cx="1045433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Ispanak, turp, havuç ve pırasada atalık tohum rahatlıkla kullanılır; tohumluk almak da kolaydır.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Brokoli ve karnabaharda, kısa sonbahar için erkenci ve tekdüze hasat isteniyorsa hibrit çeşitler avantajlıdır.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sağlıklısı: parselinizin bir bölümünde atalık, bir bölümünde hibrit deneyip kendi kaydınızı tutmak.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94360" y="5138928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Not: Atalık tohumda kabak, hıyar ve mısır gibi türler kolay melezlenir; tohumluk alacaksanız çeşitler arasında mesafe bırakın.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943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Ankara · Güzlük–Kışlık Sebze Yetiştiriciliği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Evde çimlenme testi: 7 günde sonuç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2039661" cy="2286000"/>
          </a:xfrm>
          <a:prstGeom prst="roundRect">
            <a:avLst>
              <a:gd name="adj" fmla="val 4483"/>
            </a:avLst>
          </a:prstGeom>
          <a:solidFill>
            <a:srgbClr val="EDF3E6"/>
          </a:solidFill>
          <a:ln w="12700">
            <a:solidFill>
              <a:srgbClr val="EDF3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1339870" y="1664208"/>
            <a:ext cx="548640" cy="548640"/>
          </a:xfrm>
          <a:prstGeom prst="ellipse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1339870" y="1664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58952" y="2331720"/>
            <a:ext cx="171047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1673901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Tohum torbasından rastgele 20 adet tohum ayırın.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35189" y="1463040"/>
            <a:ext cx="2039661" cy="2286000"/>
          </a:xfrm>
          <a:prstGeom prst="roundRect">
            <a:avLst>
              <a:gd name="adj" fmla="val 4483"/>
            </a:avLst>
          </a:prstGeom>
          <a:solidFill>
            <a:srgbClr val="EDF3E6"/>
          </a:solidFill>
          <a:ln w="12700">
            <a:solidFill>
              <a:srgbClr val="EDF3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3580699" y="1664208"/>
            <a:ext cx="548640" cy="548640"/>
          </a:xfrm>
          <a:prstGeom prst="ellipse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3580699" y="1664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999781" y="2331720"/>
            <a:ext cx="171047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018069" y="2697480"/>
            <a:ext cx="1673901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Islak kâğıt havlunun üzerine aralıklı olarak dizin.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76017" y="1463040"/>
            <a:ext cx="2039661" cy="2286000"/>
          </a:xfrm>
          <a:prstGeom prst="roundRect">
            <a:avLst>
              <a:gd name="adj" fmla="val 4483"/>
            </a:avLst>
          </a:prstGeom>
          <a:solidFill>
            <a:srgbClr val="EDF3E6"/>
          </a:solidFill>
          <a:ln w="12700">
            <a:solidFill>
              <a:srgbClr val="EDF3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5821528" y="1664208"/>
            <a:ext cx="548640" cy="548640"/>
          </a:xfrm>
          <a:prstGeom prst="ellipse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5821528" y="1664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240609" y="2331720"/>
            <a:ext cx="171047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Sar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258897" y="2697480"/>
            <a:ext cx="1673901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Havluyu rulo yapıp kilitli poşete koyun, ağzını gevşek bırakın.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6846" y="1463040"/>
            <a:ext cx="2039661" cy="2286000"/>
          </a:xfrm>
          <a:prstGeom prst="roundRect">
            <a:avLst>
              <a:gd name="adj" fmla="val 4483"/>
            </a:avLst>
          </a:prstGeom>
          <a:solidFill>
            <a:srgbClr val="EDF3E6"/>
          </a:solidFill>
          <a:ln w="12700">
            <a:solidFill>
              <a:srgbClr val="EDF3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8062356" y="1664208"/>
            <a:ext cx="548640" cy="548640"/>
          </a:xfrm>
          <a:prstGeom prst="ellipse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8062356" y="1664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481438" y="2331720"/>
            <a:ext cx="171047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Beklet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499726" y="2697480"/>
            <a:ext cx="1673901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18–22 °C'de, ışık almayan bir yerde bekletin. Havlu kurumasın.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557675" y="1463040"/>
            <a:ext cx="2039661" cy="2286000"/>
          </a:xfrm>
          <a:prstGeom prst="roundRect">
            <a:avLst>
              <a:gd name="adj" fmla="val 4483"/>
            </a:avLst>
          </a:prstGeom>
          <a:solidFill>
            <a:srgbClr val="EDF3E6"/>
          </a:solidFill>
          <a:ln w="12700">
            <a:solidFill>
              <a:srgbClr val="EDF3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10303185" y="1664208"/>
            <a:ext cx="548640" cy="548640"/>
          </a:xfrm>
          <a:prstGeom prst="ellipse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10303185" y="1664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722267" y="2331720"/>
            <a:ext cx="171047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Say ve hesapla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9740555" y="2697480"/>
            <a:ext cx="1673901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gün sonra çimlenenleri sayın. 16 tohum çimlendiyse oran %80'dir.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94360" y="397764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EDF3E6"/>
          </a:solidFill>
          <a:ln w="12700">
            <a:solidFill>
              <a:srgbClr val="EDF3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832104" y="4133088"/>
            <a:ext cx="4873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Sonucu nasıl kullanırsınız?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68680" y="4507992"/>
            <a:ext cx="480060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%80 ve üzeri: normal sıklıkta ekin.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%50–80: ekim miktarını yaklaşık yarı yarıya artırın.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%50 altı: tohumu tohumluk olarak kullanmayın.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217920" y="397764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6455664" y="4133088"/>
            <a:ext cx="4873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Türlere göre çimlenme süresi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492240" y="4507992"/>
            <a:ext cx="480060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Turp 3–5 gün · Ispanak 6–10 gün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Brokoli ve karnabahar 4–7 gün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Soğan 8–12 gün · Pırasa 10–14 gün · Havuç 12–18 gün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943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Ankara · Güzlük–Kışlık Sebze Yetiştiriciliği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TOHUM SAKLAMA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Tohumu doğru saklamak ömrünü ikiye katlar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740664" y="1527048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D26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04088" y="1929384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°C'nin altı, sabit sıcaklık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25112" y="141732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EDF3E6"/>
          </a:solidFill>
          <a:ln w="12700">
            <a:solidFill>
              <a:srgbClr val="EDF3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4471416" y="1527048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D26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Kuru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434840" y="1929384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%50'nin altında bağıl nem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55864" y="1417320"/>
            <a:ext cx="3538728" cy="1051560"/>
          </a:xfrm>
          <a:prstGeom prst="roundRect">
            <a:avLst>
              <a:gd name="adj" fmla="val 6957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8202168" y="152704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D26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Karanlık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165592" y="1929384"/>
            <a:ext cx="3319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Işık görmeyen kapalı kap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274320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EDF3E6"/>
          </a:solidFill>
          <a:ln w="12700">
            <a:solidFill>
              <a:srgbClr val="EDF3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832104" y="2898648"/>
            <a:ext cx="4873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Nasıl saklanır?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3273552"/>
            <a:ext cx="480060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3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Kâğıt zarf veya bez kese kullanın; naylon poşette nem yoğuşur.</a:t>
            </a:r>
            <a:endParaRPr lang="en-US" sz="123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3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Zarfları kapaklı cam kavanoza koyup içine bir avuç pirinç ya da silikajel ekleyin.</a:t>
            </a:r>
            <a:endParaRPr lang="en-US" sz="123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3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zarfa tür, çeşit ve yıl yazın. Yazmadığınız tohum bir yıl sonra kimliksizdir.</a:t>
            </a:r>
            <a:endParaRPr lang="en-US" sz="123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3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Buzdolabının sebzeliği değil, en alt rafı ya da serin bir kiler uygundur.</a:t>
            </a:r>
            <a:endParaRPr lang="en-US" sz="1230" dirty="0"/>
          </a:p>
        </p:txBody>
      </p:sp>
      <p:sp>
        <p:nvSpPr>
          <p:cNvPr id="16" name="Shape 14"/>
          <p:cNvSpPr/>
          <p:nvPr/>
        </p:nvSpPr>
        <p:spPr>
          <a:xfrm>
            <a:off x="6217920" y="274320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6455664" y="287121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Uygun koşulda ortalama tohum ömrü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Turp, brokoli, karnabahar</a:t>
            </a:r>
            <a:endParaRPr lang="en-US" sz="1230" dirty="0"/>
          </a:p>
        </p:txBody>
      </p:sp>
      <p:sp>
        <p:nvSpPr>
          <p:cNvPr id="19" name="Text 17"/>
          <p:cNvSpPr/>
          <p:nvPr/>
        </p:nvSpPr>
        <p:spPr>
          <a:xfrm>
            <a:off x="9921240" y="32461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3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yıl</a:t>
            </a:r>
            <a:endParaRPr lang="en-US" sz="1230" dirty="0"/>
          </a:p>
        </p:txBody>
      </p:sp>
      <p:sp>
        <p:nvSpPr>
          <p:cNvPr id="20" name="Text 18"/>
          <p:cNvSpPr/>
          <p:nvPr/>
        </p:nvSpPr>
        <p:spPr>
          <a:xfrm>
            <a:off x="6492240" y="35204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Ispanak</a:t>
            </a:r>
            <a:endParaRPr lang="en-US" sz="1230" dirty="0"/>
          </a:p>
        </p:txBody>
      </p:sp>
      <p:sp>
        <p:nvSpPr>
          <p:cNvPr id="21" name="Text 19"/>
          <p:cNvSpPr/>
          <p:nvPr/>
        </p:nvSpPr>
        <p:spPr>
          <a:xfrm>
            <a:off x="9921240" y="35204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3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yıl</a:t>
            </a:r>
            <a:endParaRPr lang="en-US" sz="1230" dirty="0"/>
          </a:p>
        </p:txBody>
      </p:sp>
      <p:sp>
        <p:nvSpPr>
          <p:cNvPr id="22" name="Text 20"/>
          <p:cNvSpPr/>
          <p:nvPr/>
        </p:nvSpPr>
        <p:spPr>
          <a:xfrm>
            <a:off x="6492240" y="37947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Havuç</a:t>
            </a:r>
            <a:endParaRPr lang="en-US" sz="1230" dirty="0"/>
          </a:p>
        </p:txBody>
      </p:sp>
      <p:sp>
        <p:nvSpPr>
          <p:cNvPr id="23" name="Text 21"/>
          <p:cNvSpPr/>
          <p:nvPr/>
        </p:nvSpPr>
        <p:spPr>
          <a:xfrm>
            <a:off x="9921240" y="37947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3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yıl</a:t>
            </a:r>
            <a:endParaRPr lang="en-US" sz="1230" dirty="0"/>
          </a:p>
        </p:txBody>
      </p:sp>
      <p:sp>
        <p:nvSpPr>
          <p:cNvPr id="24" name="Text 22"/>
          <p:cNvSpPr/>
          <p:nvPr/>
        </p:nvSpPr>
        <p:spPr>
          <a:xfrm>
            <a:off x="6492240" y="40690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Pırasa</a:t>
            </a:r>
            <a:endParaRPr lang="en-US" sz="1230" dirty="0"/>
          </a:p>
        </p:txBody>
      </p:sp>
      <p:sp>
        <p:nvSpPr>
          <p:cNvPr id="25" name="Text 23"/>
          <p:cNvSpPr/>
          <p:nvPr/>
        </p:nvSpPr>
        <p:spPr>
          <a:xfrm>
            <a:off x="9921240" y="40690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3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yıl</a:t>
            </a:r>
            <a:endParaRPr lang="en-US" sz="1230" dirty="0"/>
          </a:p>
        </p:txBody>
      </p:sp>
      <p:sp>
        <p:nvSpPr>
          <p:cNvPr id="26" name="Text 24"/>
          <p:cNvSpPr/>
          <p:nvPr/>
        </p:nvSpPr>
        <p:spPr>
          <a:xfrm>
            <a:off x="6492240" y="43434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Soğan</a:t>
            </a:r>
            <a:endParaRPr lang="en-US" sz="1230" dirty="0"/>
          </a:p>
        </p:txBody>
      </p:sp>
      <p:sp>
        <p:nvSpPr>
          <p:cNvPr id="27" name="Text 25"/>
          <p:cNvSpPr/>
          <p:nvPr/>
        </p:nvSpPr>
        <p:spPr>
          <a:xfrm>
            <a:off x="9921240" y="43434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3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yıl</a:t>
            </a:r>
            <a:endParaRPr lang="en-US" sz="1230" dirty="0"/>
          </a:p>
        </p:txBody>
      </p:sp>
      <p:sp>
        <p:nvSpPr>
          <p:cNvPr id="28" name="Text 26"/>
          <p:cNvSpPr/>
          <p:nvPr/>
        </p:nvSpPr>
        <p:spPr>
          <a:xfrm>
            <a:off x="594360" y="489204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Soğan tohumu çok çabuk canlılığını yitirir: her yıl taze tohum kullanın.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943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Ankara · Güzlük–Kışlık Sebze Yetiştiriciliği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3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188720"/>
            <a:ext cx="4206240" cy="420624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27492C"/>
          </a:solidFill>
          <a:ln w="12700">
            <a:solidFill>
              <a:srgbClr val="27492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594360" y="2057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24231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Toprak Hazırlığı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94360" y="34015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9D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Bitkiyi siz beslemezsiniz; toprağı beslersiniz, toprak bitkiyi besler.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97764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C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Toprağı tanımak: yapı, pH ve organik madde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C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Toprak analizi ve sonucun okunması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C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Kompost, yanmış gübre ve yeşil gübre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C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Tava–yastık yapımı, malçlama ve don koruması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Ankara · Güzlük–Kışlık Sebze Yetiştiriciliği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TOPRAK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Toprağı tanımak: üç temel ölçü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3538728" cy="2331720"/>
          </a:xfrm>
          <a:prstGeom prst="roundRect">
            <a:avLst>
              <a:gd name="adj" fmla="val 3529"/>
            </a:avLst>
          </a:prstGeom>
          <a:solidFill>
            <a:srgbClr val="EDF3E6"/>
          </a:solidFill>
          <a:ln w="12700">
            <a:solidFill>
              <a:srgbClr val="EDF3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832104" y="1572768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Yapı (bünye)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1947672"/>
            <a:ext cx="2990088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Avuç testi: nemli toprağı sıkın. Dağılıyorsa kumlu, parmak izini tutuyorsa tınlı, yapışkan şerit oluyorsa killi.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Kök sebzeler (havuç, turp) kumlu-tın toprağı sever.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Ağır killi toprak kumla değil, organik maddeyle düzeltilir.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1417320"/>
            <a:ext cx="3538728" cy="2331720"/>
          </a:xfrm>
          <a:prstGeom prst="roundRect">
            <a:avLst>
              <a:gd name="adj" fmla="val 3529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4581144" y="1572768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pH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17720" y="1947672"/>
            <a:ext cx="2990088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Sebzelerin çoğu 6,0–7,0 aralığında iyi gelişir.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Ankara toprakları genellikle kireçli ve hafif alkalidir (pH 7,5–8,2).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pH'ta demir ve çinko alımı zorlaşır; yapraklarda sararma görülür.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92440" y="1417320"/>
            <a:ext cx="3502152" cy="2331720"/>
          </a:xfrm>
          <a:prstGeom prst="roundRect">
            <a:avLst>
              <a:gd name="adj" fmla="val 3529"/>
            </a:avLst>
          </a:prstGeom>
          <a:solidFill>
            <a:srgbClr val="EDF3E6"/>
          </a:solidFill>
          <a:ln w="12700">
            <a:solidFill>
              <a:srgbClr val="EDF3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8330184" y="1572768"/>
            <a:ext cx="3026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Organik madde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66760" y="1947672"/>
            <a:ext cx="2953512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en az %2–3; Ankara topraklarında çoğu zaman %1'in altındadır.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tutma kapasitesini, havalanmayı ve canlılığı belirleyen tek unsurdur.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yıl düzenli kompost ile yükseltilir.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3977640"/>
            <a:ext cx="11002975" cy="1737360"/>
          </a:xfrm>
          <a:prstGeom prst="roundRect">
            <a:avLst>
              <a:gd name="adj" fmla="val 4737"/>
            </a:avLst>
          </a:prstGeom>
          <a:solidFill>
            <a:srgbClr val="E8EFDF"/>
          </a:solidFill>
          <a:ln w="12700">
            <a:solidFill>
              <a:srgbClr val="E8EFD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832104" y="4133088"/>
            <a:ext cx="1052748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Sağlıklı toprağın gözle görülür işaretleri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4507992"/>
            <a:ext cx="10454335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3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kürek toprakta en az 3–5 solucan bulunur; solucan kanalları suyun derine inmesini sağlar.</a:t>
            </a:r>
            <a:endParaRPr lang="en-US" sz="123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3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Toprak nemliyken kürekle kolay kesilir, kuruyunca taş gibi sertleşmez, üzerinde kabuk bağlamaz.</a:t>
            </a:r>
            <a:endParaRPr lang="en-US" sz="123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3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Yağmurdan sonra su yüzeyde göllenmez, birkaç saat içinde çeker.</a:t>
            </a:r>
            <a:endParaRPr lang="en-US" sz="123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3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Kazıldığında orman toprağı gibi hoş bir koku verir; ekşi veya çürük koku havasızlığın işaretidir.</a:t>
            </a:r>
            <a:endParaRPr lang="en-US" sz="1230" dirty="0"/>
          </a:p>
        </p:txBody>
      </p:sp>
      <p:sp>
        <p:nvSpPr>
          <p:cNvPr id="17" name="Text 14"/>
          <p:cNvSpPr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943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Ankara · Güzlük–Kışlık Sebze Yetiştiriciliği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ÖLÇMEK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Toprak analizi: tahmin etmeyi bırakın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5349240" cy="2331720"/>
          </a:xfrm>
          <a:prstGeom prst="roundRect">
            <a:avLst>
              <a:gd name="adj" fmla="val 3529"/>
            </a:avLst>
          </a:prstGeom>
          <a:solidFill>
            <a:srgbClr val="EDF3E6"/>
          </a:solidFill>
          <a:ln w="12700">
            <a:solidFill>
              <a:srgbClr val="EDF3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832104" y="1572768"/>
            <a:ext cx="4873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Örnek nasıl alınır?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1947672"/>
            <a:ext cx="4800600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3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Parselin farklı 6–8 noktasından, 0–30 cm derinlikten örnek alın.</a:t>
            </a:r>
            <a:endParaRPr lang="en-US" sz="123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3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Örnekleri temiz bir kovada karıştırıp yaklaşık 1 kg'lık tek bir karışım örneği ayırın.</a:t>
            </a:r>
            <a:endParaRPr lang="en-US" sz="123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3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Gübreleme yapılmış alandan, çit dibinden ve su birikinti yerlerinden örnek almayın.</a:t>
            </a:r>
            <a:endParaRPr lang="en-US" sz="123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3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uygun zaman hasat sonrası, ekim öncesidir; 3–4 yılda bir tekrarlayın.</a:t>
            </a:r>
            <a:endParaRPr lang="en-US" sz="1230" dirty="0"/>
          </a:p>
        </p:txBody>
      </p:sp>
      <p:sp>
        <p:nvSpPr>
          <p:cNvPr id="7" name="Shape 5"/>
          <p:cNvSpPr/>
          <p:nvPr/>
        </p:nvSpPr>
        <p:spPr>
          <a:xfrm>
            <a:off x="6217920" y="1417320"/>
            <a:ext cx="5349240" cy="2331720"/>
          </a:xfrm>
          <a:prstGeom prst="roundRect">
            <a:avLst>
              <a:gd name="adj" fmla="val 3529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6455664" y="1572768"/>
            <a:ext cx="4873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Sonuç raporunda neye bakılır?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1947672"/>
            <a:ext cx="4800600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3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ve kireç (CaCO₃): yüksek kireç, fosfor ve demir alımını kısıtlar.</a:t>
            </a:r>
            <a:endParaRPr lang="en-US" sz="123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3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Organik madde: %2'nin altı ise kompost programı şart.</a:t>
            </a:r>
            <a:endParaRPr lang="en-US" sz="123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3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Tuzluluk (EC): yüksekse aşırı gübreleme veya drenaj sorunu vardır.</a:t>
            </a:r>
            <a:endParaRPr lang="en-US" sz="123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3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Azot, fosfor, potasyum ve mikro elementler: gübre miktarı buna göre belirlenir.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594360" y="397764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EDF3E6"/>
          </a:solidFill>
          <a:ln w="12700">
            <a:solidFill>
              <a:srgbClr val="EDF3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832104" y="4133088"/>
            <a:ext cx="4873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Yüksek pH ile nasıl başa çıkılır?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4507992"/>
            <a:ext cx="48006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3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Kükürt uygulaması pH'ı yavaş düşürür; sonbaharda verilir.</a:t>
            </a:r>
            <a:endParaRPr lang="en-US" sz="123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3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Yanmış çiftlik gübresi ve kompost tamponlayıcı etki yapar.</a:t>
            </a:r>
            <a:endParaRPr lang="en-US" sz="123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3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Demir eksikliği için şelatlı demir yapraktan verilebilir.</a:t>
            </a:r>
            <a:endParaRPr lang="en-US" sz="1230" dirty="0"/>
          </a:p>
        </p:txBody>
      </p:sp>
      <p:sp>
        <p:nvSpPr>
          <p:cNvPr id="13" name="Shape 11"/>
          <p:cNvSpPr/>
          <p:nvPr/>
        </p:nvSpPr>
        <p:spPr>
          <a:xfrm>
            <a:off x="6217920" y="397764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6455664" y="4133088"/>
            <a:ext cx="4873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Analizsiz gübrelemenin bedeli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4507992"/>
            <a:ext cx="48006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3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Gereksiz gübre parayı ve suyu israf eder, tuzluluğu artırır.</a:t>
            </a:r>
            <a:endParaRPr lang="en-US" sz="123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3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Fazla azot yaprak yapar, brokolide ve soğanda ürün oluşumunu geciktirir.</a:t>
            </a:r>
            <a:endParaRPr lang="en-US" sz="123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3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Eksik besin ise verimi sessizce yarıya indirir.</a:t>
            </a:r>
            <a:endParaRPr lang="en-US" sz="1230" dirty="0"/>
          </a:p>
        </p:txBody>
      </p:sp>
      <p:sp>
        <p:nvSpPr>
          <p:cNvPr id="17" name="Text 14"/>
          <p:cNvSpPr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943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Ankara · Güzlük–Kışlık Sebze Yetiştiriciliği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BESLENME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Organik madde: kompost, gübre, yeşil gübre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3521354" cy="4206240"/>
          </a:xfrm>
          <a:prstGeom prst="roundRect">
            <a:avLst>
              <a:gd name="adj" fmla="val 2597"/>
            </a:avLst>
          </a:prstGeom>
          <a:solidFill>
            <a:srgbClr val="EDF3E6"/>
          </a:solidFill>
          <a:ln w="12700">
            <a:solidFill>
              <a:srgbClr val="EDF3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850392" y="1627632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850392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" y="2194560"/>
            <a:ext cx="30092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Kompost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50392" y="2578608"/>
            <a:ext cx="30092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Dekara 2–3 ton, bostan ölçeğinde m²'ye 3–5 kg.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86968" y="3154680"/>
            <a:ext cx="293613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Sonbaharda toprak yüzeyine serilip 10–15 cm derinliğe karıştırılır.</a:t>
            </a:r>
            <a:endParaRPr lang="en-US" sz="122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Yabancı ot tohumu içermemesi için yığın 55–65 °C'ye ulaşmalıdır.</a:t>
            </a:r>
            <a:endParaRPr lang="en-US" sz="122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ürün öncesi tekrarlanabilir; fazlası zarar vermez.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4335170" y="1417320"/>
            <a:ext cx="3521354" cy="4206240"/>
          </a:xfrm>
          <a:prstGeom prst="roundRect">
            <a:avLst>
              <a:gd name="adj" fmla="val 2597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4591202" y="1627632"/>
            <a:ext cx="457200" cy="457200"/>
          </a:xfrm>
          <a:prstGeom prst="ellipse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4591202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91202" y="2194560"/>
            <a:ext cx="30092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Yanmış çiftlik gübresi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91202" y="2578608"/>
            <a:ext cx="30092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m²'ye 3–4 kg, mutlaka yanmış olarak.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627778" y="3154680"/>
            <a:ext cx="293613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Taze gübre kökleri yakar, yabancı ot ve zararlı taşır.</a:t>
            </a:r>
            <a:endParaRPr lang="en-US" sz="122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az 6 ay yığında bekletilmiş, kokusu kaybolmuş olmalıdır.</a:t>
            </a:r>
            <a:endParaRPr lang="en-US" sz="122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Havuçta taze gübre kökün çatallanmasına yol açar.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8075981" y="1417320"/>
            <a:ext cx="3521354" cy="4206240"/>
          </a:xfrm>
          <a:prstGeom prst="roundRect">
            <a:avLst>
              <a:gd name="adj" fmla="val 2597"/>
            </a:avLst>
          </a:prstGeom>
          <a:solidFill>
            <a:srgbClr val="EDF3E6"/>
          </a:solidFill>
          <a:ln w="12700">
            <a:solidFill>
              <a:srgbClr val="EDF3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8332013" y="1627632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8332013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32013" y="2194560"/>
            <a:ext cx="30092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Yeşil gübre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332013" y="2578608"/>
            <a:ext cx="30092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Fiğ, bakla, yulaf, çavdar veya karışımı.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368589" y="3154680"/>
            <a:ext cx="293613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Ağustos–eylülde ekilir, çiçeklenme başında toprağa karıştırılır.</a:t>
            </a:r>
            <a:endParaRPr lang="en-US" sz="122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Baklagiller havadan azot bağlar; tahıllar toprağı gevşetir.</a:t>
            </a:r>
            <a:endParaRPr lang="en-US" sz="122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Boş kalacak parseller için en ucuz iyileştirme yöntemidir.</a:t>
            </a:r>
            <a:endParaRPr lang="en-US" sz="1220" dirty="0"/>
          </a:p>
        </p:txBody>
      </p:sp>
      <p:sp>
        <p:nvSpPr>
          <p:cNvPr id="23" name="Text 20"/>
          <p:cNvSpPr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943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Ankara · Güzlük–Kışlık Sebze Yetiştiriciliği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Toprak işleme ve tava hazırlığı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481328"/>
            <a:ext cx="475488" cy="47548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94360" y="14813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71016" y="1463040"/>
            <a:ext cx="4443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Önceki ürünü kaldırın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71016" y="1773936"/>
            <a:ext cx="4443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Sağlıklı bitki artıkları komposta gider; hastalıklı olanlar bostandan uzaklaştırılır.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2715768"/>
            <a:ext cx="475488" cy="47548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594360" y="27157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71016" y="2697480"/>
            <a:ext cx="4443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Yabancı otları temizleyin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71016" y="3008376"/>
            <a:ext cx="4443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Kök sürgünüyle çoğalan ayrık otu ve kanyaşı kökleriyle birlikte çıkarın.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3950208"/>
            <a:ext cx="475488" cy="47548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594360" y="39502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71016" y="3931920"/>
            <a:ext cx="4443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Organik maddeyi serin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71016" y="4242816"/>
            <a:ext cx="4443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Kompost ve yanmış gübreyi yüzeye eşit dağıtın.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1481328"/>
            <a:ext cx="475488" cy="47548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6217920" y="14813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94576" y="1463040"/>
            <a:ext cx="4443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Toprağı gevşetin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94576" y="1773936"/>
            <a:ext cx="4443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 küreğiyle 20–25 cm derinliğe kadar çevirmeden gevşetin; alt–üst etmek gerekmez.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17920" y="2715768"/>
            <a:ext cx="475488" cy="47548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6217920" y="27157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94576" y="2697480"/>
            <a:ext cx="4443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Tırmıkla düzeltin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94576" y="3008376"/>
            <a:ext cx="4443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İri kesekleri kırın; tohum yatağı ince ve düz olmalı.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17920" y="3950208"/>
            <a:ext cx="475488" cy="47548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6217920" y="39502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894576" y="3931920"/>
            <a:ext cx="4443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Tavaları oluşturun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94576" y="4242816"/>
            <a:ext cx="4443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80–120 cm genişlik, aralarda 40 cm yürüme yolu. Tava içine hiç basmayın.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94360" y="5230368"/>
            <a:ext cx="11002975" cy="777240"/>
          </a:xfrm>
          <a:prstGeom prst="roundRect">
            <a:avLst>
              <a:gd name="adj" fmla="val 10588"/>
            </a:avLst>
          </a:prstGeom>
          <a:solidFill>
            <a:srgbClr val="E8EFDF"/>
          </a:solidFill>
          <a:ln w="12700">
            <a:solidFill>
              <a:srgbClr val="E8EFD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868680" y="5431536"/>
            <a:ext cx="10454335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8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Kışa girerken toprağı çıplak bırakmayın: hasat biten tavalara ya yeşil gübre ekin ya da 5 cm kalınlığında sap–saman malç serin.</a:t>
            </a:r>
            <a:endParaRPr lang="en-US" sz="1280" dirty="0"/>
          </a:p>
        </p:txBody>
      </p:sp>
      <p:sp>
        <p:nvSpPr>
          <p:cNvPr id="31" name="Text 28"/>
          <p:cNvSpPr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943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Ankara · Güzlük–Kışlık Sebze Yetiştiriciliği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KIŞA HAZIRLIK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Malçlama ve don koruması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EDF3E6"/>
          </a:solidFill>
          <a:ln w="12700">
            <a:solidFill>
              <a:srgbClr val="EDF3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832104" y="1572768"/>
            <a:ext cx="4873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Malç ne işe yarar?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1947672"/>
            <a:ext cx="480060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3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Toprak sıcaklığındaki ani değişimleri azaltır; don–çözülme döngüsünde kökleri korur.</a:t>
            </a:r>
            <a:endParaRPr lang="en-US" sz="123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3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Suyun buharlaşmasını yavaşlatır, sulama aralığını uzatır.</a:t>
            </a:r>
            <a:endParaRPr lang="en-US" sz="123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3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Yabancı ot çıkışını engeller.</a:t>
            </a:r>
            <a:endParaRPr lang="en-US" sz="123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3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Zamanla çürüyerek organik maddeye dönüşür.</a:t>
            </a:r>
            <a:endParaRPr lang="en-US" sz="1230" dirty="0"/>
          </a:p>
        </p:txBody>
      </p:sp>
      <p:sp>
        <p:nvSpPr>
          <p:cNvPr id="7" name="Shape 5"/>
          <p:cNvSpPr/>
          <p:nvPr/>
        </p:nvSpPr>
        <p:spPr>
          <a:xfrm>
            <a:off x="6217920" y="1417320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6455664" y="1572768"/>
            <a:ext cx="4873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Hangi malç, ne kadar?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1947672"/>
            <a:ext cx="480060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3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Sap–saman: 5–8 cm. En yaygın ve ucuz seçenek.</a:t>
            </a:r>
            <a:endParaRPr lang="en-US" sz="123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3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Yaprak: sonbahar yaprakları ezilerek 5 cm serilir.</a:t>
            </a:r>
            <a:endParaRPr lang="en-US" sz="123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3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Kompost: 2–3 cm, hem malç hem gübre görevi görür.</a:t>
            </a:r>
            <a:endParaRPr lang="en-US" sz="123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3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Malçı bitkinin gövde dibine yığmayın; çürümeye yol açar.</a:t>
            </a:r>
            <a:endParaRPr lang="en-US" sz="1230" dirty="0"/>
          </a:p>
        </p:txBody>
      </p:sp>
      <p:sp>
        <p:nvSpPr>
          <p:cNvPr id="10" name="Text 8"/>
          <p:cNvSpPr/>
          <p:nvPr/>
        </p:nvSpPr>
        <p:spPr>
          <a:xfrm>
            <a:off x="594360" y="3767328"/>
            <a:ext cx="11002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 koruması için üç pratik yöntem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94360" y="4160520"/>
            <a:ext cx="3521354" cy="1508760"/>
          </a:xfrm>
          <a:prstGeom prst="roundRect">
            <a:avLst>
              <a:gd name="adj" fmla="val 5455"/>
            </a:avLst>
          </a:prstGeom>
          <a:solidFill>
            <a:srgbClr val="EDF3E6"/>
          </a:solidFill>
          <a:ln w="12700">
            <a:solidFill>
              <a:srgbClr val="EDF3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813816" y="4297680"/>
            <a:ext cx="30824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Agril (don örtüsü)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3816" y="4608576"/>
            <a:ext cx="30824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°C koruma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13816" y="4901184"/>
            <a:ext cx="308244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Doğrudan bitki üzerine serilir, ışık ve suyu geçirir.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35170" y="4160520"/>
            <a:ext cx="3521354" cy="1508760"/>
          </a:xfrm>
          <a:prstGeom prst="roundRect">
            <a:avLst>
              <a:gd name="adj" fmla="val 5455"/>
            </a:avLst>
          </a:prstGeom>
          <a:solidFill>
            <a:srgbClr val="EDF3E6"/>
          </a:solidFill>
          <a:ln w="12700">
            <a:solidFill>
              <a:srgbClr val="EDF3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4554626" y="4297680"/>
            <a:ext cx="30824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Alçak tünel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54626" y="4608576"/>
            <a:ext cx="30824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°C koruma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54626" y="4901184"/>
            <a:ext cx="308244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Kavisli teller üzerine örtü; hasadı 3–4 hafta uzatır.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75981" y="4160520"/>
            <a:ext cx="3521354" cy="1508760"/>
          </a:xfrm>
          <a:prstGeom prst="roundRect">
            <a:avLst>
              <a:gd name="adj" fmla="val 5455"/>
            </a:avLst>
          </a:prstGeom>
          <a:solidFill>
            <a:srgbClr val="EDF3E6"/>
          </a:solidFill>
          <a:ln w="12700">
            <a:solidFill>
              <a:srgbClr val="EDF3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8295437" y="4297680"/>
            <a:ext cx="30824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Toprak boğaz doldurma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95437" y="4608576"/>
            <a:ext cx="30824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Kök bölgesini korur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95437" y="4901184"/>
            <a:ext cx="308244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Pırasa ve soğanda gövde dibine toprak çekilir.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943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Ankara · Güzlük–Kışlık Sebze Yetiştiriciliği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PLANLAMA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Ekim nöbeti (münavebe): aynı yere aynı familya gelmesin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28016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familyadan bitkiler aynı hastalıkları taşır ve topraktan aynı besinleri çeker. Bir parsele aynı familyayı 3–4 yıl üst üste ekmeyin.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11002975" cy="868680"/>
          </a:xfrm>
          <a:prstGeom prst="roundRect">
            <a:avLst>
              <a:gd name="adj" fmla="val 8421"/>
            </a:avLst>
          </a:prstGeom>
          <a:solidFill>
            <a:srgbClr val="EDF3E6"/>
          </a:solidFill>
          <a:ln w="12700">
            <a:solidFill>
              <a:srgbClr val="EDF3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868680" y="1929384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Turpgiller (Brassicaceae)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206240" y="1929384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3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Brokoli, karnabahar, turp, lahana, roka</a:t>
            </a:r>
            <a:endParaRPr lang="en-US" sz="1230" dirty="0"/>
          </a:p>
        </p:txBody>
      </p:sp>
      <p:sp>
        <p:nvSpPr>
          <p:cNvPr id="8" name="Text 6"/>
          <p:cNvSpPr/>
          <p:nvPr/>
        </p:nvSpPr>
        <p:spPr>
          <a:xfrm>
            <a:off x="7680960" y="1929384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3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Kök uru hastalığına dikkat; en az 4 yıl ara verin.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594360" y="2724912"/>
            <a:ext cx="11002975" cy="868680"/>
          </a:xfrm>
          <a:prstGeom prst="roundRect">
            <a:avLst>
              <a:gd name="adj" fmla="val 8421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868680" y="2871216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Ispanakgiller (Amaranthaceae)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206240" y="2871216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3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Ispanak, pazı, pancar</a:t>
            </a:r>
            <a:endParaRPr lang="en-US" sz="1230" dirty="0"/>
          </a:p>
        </p:txBody>
      </p:sp>
      <p:sp>
        <p:nvSpPr>
          <p:cNvPr id="12" name="Text 10"/>
          <p:cNvSpPr/>
          <p:nvPr/>
        </p:nvSpPr>
        <p:spPr>
          <a:xfrm>
            <a:off x="7680960" y="2871216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3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Azotu çok sever; gübreli parselden sonra iyi gelir.</a:t>
            </a:r>
            <a:endParaRPr lang="en-US" sz="1230" dirty="0"/>
          </a:p>
        </p:txBody>
      </p:sp>
      <p:sp>
        <p:nvSpPr>
          <p:cNvPr id="13" name="Shape 11"/>
          <p:cNvSpPr/>
          <p:nvPr/>
        </p:nvSpPr>
        <p:spPr>
          <a:xfrm>
            <a:off x="594360" y="3666744"/>
            <a:ext cx="11002975" cy="868680"/>
          </a:xfrm>
          <a:prstGeom prst="roundRect">
            <a:avLst>
              <a:gd name="adj" fmla="val 8421"/>
            </a:avLst>
          </a:prstGeom>
          <a:solidFill>
            <a:srgbClr val="EDF3E6"/>
          </a:solidFill>
          <a:ln w="12700">
            <a:solidFill>
              <a:srgbClr val="EDF3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868680" y="3813048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Soğangiller (Amaryllidaceae)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206240" y="3813048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3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Soğan, pırasa, sarımsak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7680960" y="3813048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3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Taze gübre istemez; nemli–havasız toprakta kök çürüklüğü yapar.</a:t>
            </a:r>
            <a:endParaRPr lang="en-US" sz="1230" dirty="0"/>
          </a:p>
        </p:txBody>
      </p:sp>
      <p:sp>
        <p:nvSpPr>
          <p:cNvPr id="17" name="Shape 15"/>
          <p:cNvSpPr/>
          <p:nvPr/>
        </p:nvSpPr>
        <p:spPr>
          <a:xfrm>
            <a:off x="594360" y="4608576"/>
            <a:ext cx="11002975" cy="868680"/>
          </a:xfrm>
          <a:prstGeom prst="roundRect">
            <a:avLst>
              <a:gd name="adj" fmla="val 8421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868680" y="475488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Maydanozgiller (Apiaceae)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206240" y="4754880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3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Havuç, maydanoz, kereviz, dereotu</a:t>
            </a:r>
            <a:endParaRPr lang="en-US" sz="1230" dirty="0"/>
          </a:p>
        </p:txBody>
      </p:sp>
      <p:sp>
        <p:nvSpPr>
          <p:cNvPr id="20" name="Text 18"/>
          <p:cNvSpPr/>
          <p:nvPr/>
        </p:nvSpPr>
        <p:spPr>
          <a:xfrm>
            <a:off x="7680960" y="4754880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3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Derin, taşsız ve gevşek toprak ister.</a:t>
            </a:r>
            <a:endParaRPr lang="en-US" sz="1230" dirty="0"/>
          </a:p>
        </p:txBody>
      </p:sp>
      <p:sp>
        <p:nvSpPr>
          <p:cNvPr id="21" name="Shape 19"/>
          <p:cNvSpPr/>
          <p:nvPr/>
        </p:nvSpPr>
        <p:spPr>
          <a:xfrm>
            <a:off x="594360" y="5577840"/>
            <a:ext cx="11002975" cy="658368"/>
          </a:xfrm>
          <a:prstGeom prst="roundRect">
            <a:avLst>
              <a:gd name="adj" fmla="val 12500"/>
            </a:avLst>
          </a:prstGeom>
          <a:solidFill>
            <a:srgbClr val="E8EFDF"/>
          </a:solidFill>
          <a:ln w="12700">
            <a:solidFill>
              <a:srgbClr val="E8EFD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868680" y="5779008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8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Dört yıllık basit döngü:  1. yıl yapraklılar  →  2. yıl meyveliler  →  3. yıl kök sebzeler  →  4. yıl baklagiller.</a:t>
            </a:r>
            <a:endParaRPr lang="en-US" sz="1280" dirty="0"/>
          </a:p>
        </p:txBody>
      </p:sp>
      <p:sp>
        <p:nvSpPr>
          <p:cNvPr id="24" name="Text 21"/>
          <p:cNvSpPr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943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Ankara · Güzlük–Kışlık Sebze Yetiştiriciliği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YÖNTEM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Fide mi, doğrudan ekim mi?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5349240" cy="2377440"/>
          </a:xfrm>
          <a:prstGeom prst="roundRect">
            <a:avLst>
              <a:gd name="adj" fmla="val 3462"/>
            </a:avLst>
          </a:prstGeom>
          <a:solidFill>
            <a:srgbClr val="EDF3E6"/>
          </a:solidFill>
          <a:ln w="12700">
            <a:solidFill>
              <a:srgbClr val="EDF3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832104" y="1572768"/>
            <a:ext cx="4873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Fide ile dikilenler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1947672"/>
            <a:ext cx="480060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3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Brokoli, karnabahar, pırasa, lahana.</a:t>
            </a:r>
            <a:endParaRPr lang="en-US" sz="123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3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Tohum küçüktür ve ilk dönemde hassastır; korumalı ortamda güçlü fide elde edilir.</a:t>
            </a:r>
            <a:endParaRPr lang="en-US" sz="123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3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 ve zaman kazandırır: fide büyürken tarlada başka ürün olabilir.</a:t>
            </a:r>
            <a:endParaRPr lang="en-US" sz="123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3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Dikim öncesi fideler 5–7 gün açıkta bekletilerek sertleştirilir.</a:t>
            </a:r>
            <a:endParaRPr lang="en-US" sz="1230" dirty="0"/>
          </a:p>
        </p:txBody>
      </p:sp>
      <p:sp>
        <p:nvSpPr>
          <p:cNvPr id="7" name="Shape 5"/>
          <p:cNvSpPr/>
          <p:nvPr/>
        </p:nvSpPr>
        <p:spPr>
          <a:xfrm>
            <a:off x="6217920" y="1417320"/>
            <a:ext cx="5349240" cy="2377440"/>
          </a:xfrm>
          <a:prstGeom prst="roundRect">
            <a:avLst>
              <a:gd name="adj" fmla="val 3462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6455664" y="1572768"/>
            <a:ext cx="4873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Doğrudan yerine ekilenler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1947672"/>
            <a:ext cx="480060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3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Havuç, turp, ıspanak, maydanoz.</a:t>
            </a:r>
            <a:endParaRPr lang="en-US" sz="123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3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Kazık kök yapan türler şaşırtmayı sevmez; söküm kökü çatallandırır.</a:t>
            </a:r>
            <a:endParaRPr lang="en-US" sz="123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3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Tohum yatağı çok ince hazırlanmalı, ekimden sonra toprak kurumamalı.</a:t>
            </a:r>
            <a:endParaRPr lang="en-US" sz="123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3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Çıkıştan sonra mutlaka seyreltme yapılır.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594360" y="397764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EDF3E6"/>
          </a:solidFill>
          <a:ln w="12700">
            <a:solidFill>
              <a:srgbClr val="EDF3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832104" y="4133088"/>
            <a:ext cx="4873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İyi fidenin özellikleri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4507992"/>
            <a:ext cx="48006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3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Boğum araları kısa, gövde kalın ve tıknaz.</a:t>
            </a:r>
            <a:endParaRPr lang="en-US" sz="123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3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Kök topağı kabı sarmış, dağılmıyor.</a:t>
            </a:r>
            <a:endParaRPr lang="en-US" sz="123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3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Yaprakları koyu yeşil, lekesiz; 4–6 gerçek yapraklı.</a:t>
            </a:r>
            <a:endParaRPr lang="en-US" sz="1230" dirty="0"/>
          </a:p>
        </p:txBody>
      </p:sp>
      <p:sp>
        <p:nvSpPr>
          <p:cNvPr id="13" name="Shape 11"/>
          <p:cNvSpPr/>
          <p:nvPr/>
        </p:nvSpPr>
        <p:spPr>
          <a:xfrm>
            <a:off x="6217920" y="397764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6455664" y="4133088"/>
            <a:ext cx="4873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Dikim günü kuralları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4507992"/>
            <a:ext cx="48006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3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Serin saatlerde, tercihen ikindiden sonra dikin.</a:t>
            </a:r>
            <a:endParaRPr lang="en-US" sz="123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3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Dikim çukurunu önceden sulayın, fideyi çamura oturtun.</a:t>
            </a:r>
            <a:endParaRPr lang="en-US" sz="123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3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Dikimden hemen sonra can suyu verin.</a:t>
            </a:r>
            <a:endParaRPr lang="en-US" sz="1230" dirty="0"/>
          </a:p>
        </p:txBody>
      </p:sp>
      <p:sp>
        <p:nvSpPr>
          <p:cNvPr id="17" name="Text 14"/>
          <p:cNvSpPr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943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Ankara · Güzlük–Kışlık Sebze Yetiştiriciliği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3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188720"/>
            <a:ext cx="4206240" cy="420624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27492C"/>
          </a:solidFill>
          <a:ln w="12700">
            <a:solidFill>
              <a:srgbClr val="27492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594360" y="2057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24231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Yedi Sebze, Sırasıyla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94360" y="34015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9D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tür için: takvim, ekim ölçüleri, bakım, sorunlar ve hasat.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97764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C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Brokoli  ·  Karnabahar  ·  Ispanak  ·  Turp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C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Soğan  ·  Pırasa  ·  Havuç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C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sebze iki slaytta ele alınır: künye ve bakım.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Ankara · Güzlük–Kışlık Sebze Yetiştiriciliği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DDE7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508760" y="329184"/>
            <a:ext cx="100885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TURPGILLER · BRASSICA OLERACEA VAR. ITALICA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508760" y="585216"/>
            <a:ext cx="100885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Brokoli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2586152" cy="960120"/>
          </a:xfrm>
          <a:prstGeom prst="roundRect">
            <a:avLst>
              <a:gd name="adj" fmla="val 7619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740664" y="1481328"/>
            <a:ext cx="2293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26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18–22 °C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04088" y="1883664"/>
            <a:ext cx="2366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Optimum gelişme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99968" y="1371600"/>
            <a:ext cx="2586152" cy="960120"/>
          </a:xfrm>
          <a:prstGeom prst="roundRect">
            <a:avLst>
              <a:gd name="adj" fmla="val 7619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3546272" y="1481328"/>
            <a:ext cx="2293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26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−6 °C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509696" y="1883664"/>
            <a:ext cx="2366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 dayanımı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05576" y="1371600"/>
            <a:ext cx="2586152" cy="960120"/>
          </a:xfrm>
          <a:prstGeom prst="roundRect">
            <a:avLst>
              <a:gd name="adj" fmla="val 7619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6351880" y="1481328"/>
            <a:ext cx="2293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26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85–110 gün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15304" y="1883664"/>
            <a:ext cx="2366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Dikimden hasada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11183" y="1371600"/>
            <a:ext cx="2586152" cy="960120"/>
          </a:xfrm>
          <a:prstGeom prst="roundRect">
            <a:avLst>
              <a:gd name="adj" fmla="val 7619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9157487" y="1481328"/>
            <a:ext cx="2293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26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50×40 cm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120911" y="1883664"/>
            <a:ext cx="2366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Dikim aralığı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2606040"/>
            <a:ext cx="3521354" cy="2926080"/>
          </a:xfrm>
          <a:prstGeom prst="roundRect">
            <a:avLst>
              <a:gd name="adj" fmla="val 2813"/>
            </a:avLst>
          </a:prstGeom>
          <a:solidFill>
            <a:srgbClr val="EDF3E6"/>
          </a:solidFill>
          <a:ln w="12700">
            <a:solidFill>
              <a:srgbClr val="EDF3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832104" y="2761488"/>
            <a:ext cx="30458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Takvim ve ekim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3136392"/>
            <a:ext cx="2972714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Fidelik ekimi: temmuz başı, gölgelenmiş ortamda.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 dikimi: 10–25 Ağustos. Geç dikimde baş bağlamadan don gelir.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Hasat: ekim ortası – kasım sonu.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 yaşı dikimde 28–35 gün, 4–5 gerçek yapraklı olmalı.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4335170" y="2606040"/>
            <a:ext cx="3521354" cy="2926080"/>
          </a:xfrm>
          <a:prstGeom prst="roundRect">
            <a:avLst>
              <a:gd name="adj" fmla="val 2813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4572914" y="2761488"/>
            <a:ext cx="30458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Toprak ve yer seçimi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609490" y="3136392"/>
            <a:ext cx="2972714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Derin, organik maddece zengin, su tutan ama göllenmeyen toprak ister.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6,0–7,0 arası idealdir; kök uru riski asit toprakta artar.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Dikimden önce m²'ye 3–4 kg yanmış gübre veya kompost verilir.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Güneşli, rüzgârdan bir miktar korunmuş yer seçin.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8075981" y="2606040"/>
            <a:ext cx="3521354" cy="2926080"/>
          </a:xfrm>
          <a:prstGeom prst="roundRect">
            <a:avLst>
              <a:gd name="adj" fmla="val 2813"/>
            </a:avLst>
          </a:prstGeom>
          <a:solidFill>
            <a:srgbClr val="EDF3E6"/>
          </a:solidFill>
          <a:ln w="12700">
            <a:solidFill>
              <a:srgbClr val="EDF3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8313725" y="2761488"/>
            <a:ext cx="30458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Çeşit ve pratik notlar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350301" y="3136392"/>
            <a:ext cx="2972714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Ankara'nın kısa sonbaharı için erkenci çeşitleri tercih edin.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 sürgün veren çeşitler bostan ölçeğinde daha verimlidir.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Fideyi 2–3 cm derin dikin; gövde toprakla desteklenir.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gün arayla iki parti dikerseniz hasat süresi uzar.</a:t>
            </a:r>
            <a:endParaRPr lang="en-US" sz="1220" dirty="0"/>
          </a:p>
        </p:txBody>
      </p:sp>
      <p:sp>
        <p:nvSpPr>
          <p:cNvPr id="27" name="Text 24"/>
          <p:cNvSpPr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943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Ankara · Güzlük–Kışlık Sebze Yetiştiriciliği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BROKOLI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Brokoli: bakım, sorunlar ve hasat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3521354" cy="2971800"/>
          </a:xfrm>
          <a:prstGeom prst="roundRect">
            <a:avLst>
              <a:gd name="adj" fmla="val 2769"/>
            </a:avLst>
          </a:prstGeom>
          <a:solidFill>
            <a:srgbClr val="EDF3E6"/>
          </a:solidFill>
          <a:ln w="12700">
            <a:solidFill>
              <a:srgbClr val="EDF3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832104" y="1572768"/>
            <a:ext cx="30458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Bakım işleri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1947672"/>
            <a:ext cx="2972714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Toprak sürekli nemli tutulur; baş bağlama döneminde su kesilmez.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Dikimden 3 hafta sonra azotlu üst gübre verilir.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Çapa ile toprak yüzeyi kabuğu kırılır, ot alınır.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Gövde dibine hafif toprak çekmek devrilmeyi önler.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4335170" y="1417320"/>
            <a:ext cx="3521354" cy="2971800"/>
          </a:xfrm>
          <a:prstGeom prst="roundRect">
            <a:avLst>
              <a:gd name="adj" fmla="val 2769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4572914" y="1572768"/>
            <a:ext cx="30458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Sık görülen sorunlar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09490" y="1947672"/>
            <a:ext cx="2972714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Lahana kelebeği tırtılı: yaprakları delik deşik eder. Elle toplama ve Bacillus thuringiensis etkilidir.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Yaprak biti: sabun çözeltisiyle yıkanır.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Kök uru: bulaşık toprakta 5–7 yıl turpgil ekilmez.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Erken baş bağlama (buttonlaşma): fide yaşlı dikildiğinde görülür.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8075981" y="1417320"/>
            <a:ext cx="3521354" cy="2971800"/>
          </a:xfrm>
          <a:prstGeom prst="roundRect">
            <a:avLst>
              <a:gd name="adj" fmla="val 2769"/>
            </a:avLst>
          </a:prstGeom>
          <a:solidFill>
            <a:srgbClr val="EDF3E6"/>
          </a:solidFill>
          <a:ln w="12700">
            <a:solidFill>
              <a:srgbClr val="EDF3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8313725" y="1572768"/>
            <a:ext cx="30458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Hasat ve saklama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50301" y="1947672"/>
            <a:ext cx="2972714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baş sıkı ve koyu yeşilken, çiçek tomurcukları açılmadan kesilir.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Sarı çiçek görünmesi geç kalındığının işaretidir.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baş 10–15 cm sap bırakılarak kesilirse yan sürgünler gelişir.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 sürgünlerden 4–6 hafta boyunca hasat alınabilir.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594360" y="4663440"/>
            <a:ext cx="11002975" cy="868680"/>
          </a:xfrm>
          <a:prstGeom prst="roundRect">
            <a:avLst>
              <a:gd name="adj" fmla="val 9474"/>
            </a:avLst>
          </a:prstGeom>
          <a:solidFill>
            <a:srgbClr val="E8EFDF"/>
          </a:solidFill>
          <a:ln w="12700">
            <a:solidFill>
              <a:srgbClr val="E8EFD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868680" y="4873752"/>
            <a:ext cx="457200" cy="457200"/>
          </a:xfrm>
          <a:prstGeom prst="ellipse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868680" y="4873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508760" y="4800600"/>
            <a:ext cx="97228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E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başı hasat ettikten sonra bitkiyi sökmeyin: yan sürgünler küçük ama bol ürün verir.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943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Ankara · Güzlük–Kışlık Sebze Yetiştiriciliği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DDE7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508760" y="329184"/>
            <a:ext cx="100885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TURPGILLER · BRASSICA OLERACEA VAR. BOTRYTIS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508760" y="585216"/>
            <a:ext cx="100885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Karnabahar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2586152" cy="960120"/>
          </a:xfrm>
          <a:prstGeom prst="roundRect">
            <a:avLst>
              <a:gd name="adj" fmla="val 7619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740664" y="1481328"/>
            <a:ext cx="2293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26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15–20 °C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04088" y="1883664"/>
            <a:ext cx="2366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Optimum gelişme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99968" y="1371600"/>
            <a:ext cx="2586152" cy="960120"/>
          </a:xfrm>
          <a:prstGeom prst="roundRect">
            <a:avLst>
              <a:gd name="adj" fmla="val 7619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3546272" y="1481328"/>
            <a:ext cx="2293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26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 / −5 °C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509696" y="1883664"/>
            <a:ext cx="2366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 dayanımı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05576" y="1371600"/>
            <a:ext cx="2586152" cy="960120"/>
          </a:xfrm>
          <a:prstGeom prst="roundRect">
            <a:avLst>
              <a:gd name="adj" fmla="val 7619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6351880" y="1481328"/>
            <a:ext cx="2293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26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90–120 gün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15304" y="1883664"/>
            <a:ext cx="2366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Dikimden hasada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11183" y="1371600"/>
            <a:ext cx="2586152" cy="960120"/>
          </a:xfrm>
          <a:prstGeom prst="roundRect">
            <a:avLst>
              <a:gd name="adj" fmla="val 7619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9157487" y="1481328"/>
            <a:ext cx="2293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26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60×50 cm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120911" y="1883664"/>
            <a:ext cx="2366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Dikim aralığı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2606040"/>
            <a:ext cx="3521354" cy="2926080"/>
          </a:xfrm>
          <a:prstGeom prst="roundRect">
            <a:avLst>
              <a:gd name="adj" fmla="val 2813"/>
            </a:avLst>
          </a:prstGeom>
          <a:solidFill>
            <a:srgbClr val="EDF3E6"/>
          </a:solidFill>
          <a:ln w="12700">
            <a:solidFill>
              <a:srgbClr val="EDF3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832104" y="2761488"/>
            <a:ext cx="30458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Takvim ve ekim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3136392"/>
            <a:ext cx="2972714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Fidelik ekimi: haziran sonu – temmuz ortası.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 dikimi: 5–20 Ağustos. Brokoliden birkaç gün önce dikilir.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Hasat: ekim – kasım.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Brokoliye göre sıcağa ve susuzluğa daha hassastır.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4335170" y="2606040"/>
            <a:ext cx="3521354" cy="2926080"/>
          </a:xfrm>
          <a:prstGeom prst="roundRect">
            <a:avLst>
              <a:gd name="adj" fmla="val 2813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4572914" y="2761488"/>
            <a:ext cx="30458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Toprak ve yer seçimi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609490" y="3136392"/>
            <a:ext cx="2972714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Ağır beslenir: en zengin parseli karnabahara ayırın.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6,5 civarı; bor ve molibden eksikliğine çok duyarlıdır.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tutma kapasitesi yüksek, derin toprak gerekir.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Gelişme boyunca kesintisiz su ister; kuraklık baş kalitesini bozar.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8075981" y="2606040"/>
            <a:ext cx="3521354" cy="2926080"/>
          </a:xfrm>
          <a:prstGeom prst="roundRect">
            <a:avLst>
              <a:gd name="adj" fmla="val 2813"/>
            </a:avLst>
          </a:prstGeom>
          <a:solidFill>
            <a:srgbClr val="EDF3E6"/>
          </a:solidFill>
          <a:ln w="12700">
            <a:solidFill>
              <a:srgbClr val="EDF3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8313725" y="2761488"/>
            <a:ext cx="30458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Çeşit ve pratik notlar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350301" y="3136392"/>
            <a:ext cx="2972714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Kendiliğinden kapanan çeşitler bağlama işini ortadan kaldırır.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Geççi çeşitler Ankara'da dona yakalanır; erkenci seçin.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 ve yeşil çeşitler blanşman istemez, dekoratiftir.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Dikimden sonraki ilk hafta hafif gölgeleme tutmayı artırır.</a:t>
            </a:r>
            <a:endParaRPr lang="en-US" sz="1220" dirty="0"/>
          </a:p>
        </p:txBody>
      </p:sp>
      <p:sp>
        <p:nvSpPr>
          <p:cNvPr id="27" name="Text 24"/>
          <p:cNvSpPr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943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Ankara · Güzlük–Kışlık Sebze Yetiştiriciliği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KARNABAHAR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Karnabahar: bakım, sorunlar ve hasat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3521354" cy="2971800"/>
          </a:xfrm>
          <a:prstGeom prst="roundRect">
            <a:avLst>
              <a:gd name="adj" fmla="val 2769"/>
            </a:avLst>
          </a:prstGeom>
          <a:solidFill>
            <a:srgbClr val="EDF3E6"/>
          </a:solidFill>
          <a:ln w="12700">
            <a:solidFill>
              <a:srgbClr val="EDF3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832104" y="1572768"/>
            <a:ext cx="30458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Bakım işleri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1947672"/>
            <a:ext cx="2972714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Düzenli ve bol sulama; toprak asla tamamen kurumamalı.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Dikimden 3 ve 6 hafta sonra iki kez üst gübre verilir.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 ceviz büyüklüğüne geldiğinde dış yapraklar üzerine kapatılıp bağlanır (blanşman).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işlem başın bembeyaz kalmasını sağlar, güneş yanığını önler.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4335170" y="1417320"/>
            <a:ext cx="3521354" cy="2971800"/>
          </a:xfrm>
          <a:prstGeom prst="roundRect">
            <a:avLst>
              <a:gd name="adj" fmla="val 2769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4572914" y="1572768"/>
            <a:ext cx="30458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Sık görülen sorunlar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09490" y="1947672"/>
            <a:ext cx="2972714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 eksikliği: baş içinde kahverengi lekeler ve acılık oluşur.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Molibden eksikliği: yapraklar incelip kayış gibi olur (kamçı kuyruk).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Tüylenme–kabalaşma: sıcak ve susuzluk baş yüzeyini pürüzlü yapar.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Lahana kelebeği ve yaprak biti brokolideki gibi mücadele edilir.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8075981" y="1417320"/>
            <a:ext cx="3521354" cy="2971800"/>
          </a:xfrm>
          <a:prstGeom prst="roundRect">
            <a:avLst>
              <a:gd name="adj" fmla="val 2769"/>
            </a:avLst>
          </a:prstGeom>
          <a:solidFill>
            <a:srgbClr val="EDF3E6"/>
          </a:solidFill>
          <a:ln w="12700">
            <a:solidFill>
              <a:srgbClr val="EDF3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8313725" y="1572768"/>
            <a:ext cx="30458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Hasat ve saklama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50301" y="1947672"/>
            <a:ext cx="2972714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 sıkı, düzgün ve beyazken kesilir; tanecikler ayrışmaya başlamadan.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Hasat sabah serinliğinde yapılır.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Birkaç dış yaprak bırakılarak kesmek taşımada başı korur.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Serin ve nemli ortamda 3–4 hafta saklanabilir.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594360" y="4663440"/>
            <a:ext cx="11002975" cy="868680"/>
          </a:xfrm>
          <a:prstGeom prst="roundRect">
            <a:avLst>
              <a:gd name="adj" fmla="val 9474"/>
            </a:avLst>
          </a:prstGeom>
          <a:solidFill>
            <a:srgbClr val="E8EFDF"/>
          </a:solidFill>
          <a:ln w="12700">
            <a:solidFill>
              <a:srgbClr val="E8EFD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868680" y="4873752"/>
            <a:ext cx="457200" cy="457200"/>
          </a:xfrm>
          <a:prstGeom prst="ellipse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868680" y="4873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508760" y="4800600"/>
            <a:ext cx="97228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E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Karnabahar dondan brokoli kadar hoşlanmaz: ilk kuvvetli don beklenirken başlar küçük de olsa hasat edilir.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943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Ankara · Güzlük–Kışlık Sebze Yetiştiriciliği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DDE7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508760" y="329184"/>
            <a:ext cx="100885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ISPANAKGILLER · SPINACIA OLERACEA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508760" y="585216"/>
            <a:ext cx="100885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Ispanak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2586152" cy="960120"/>
          </a:xfrm>
          <a:prstGeom prst="roundRect">
            <a:avLst>
              <a:gd name="adj" fmla="val 7619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740664" y="1481328"/>
            <a:ext cx="2293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26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10–18 °C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04088" y="1883664"/>
            <a:ext cx="2366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Optimum gelişme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99968" y="1371600"/>
            <a:ext cx="2586152" cy="960120"/>
          </a:xfrm>
          <a:prstGeom prst="roundRect">
            <a:avLst>
              <a:gd name="adj" fmla="val 7619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3546272" y="1481328"/>
            <a:ext cx="2293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26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−10 / −15 °C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509696" y="1883664"/>
            <a:ext cx="2366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 dayanımı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05576" y="1371600"/>
            <a:ext cx="2586152" cy="960120"/>
          </a:xfrm>
          <a:prstGeom prst="roundRect">
            <a:avLst>
              <a:gd name="adj" fmla="val 7619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6351880" y="1481328"/>
            <a:ext cx="2293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26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45–60 gün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15304" y="1883664"/>
            <a:ext cx="2366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Ekimden hasada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11183" y="1371600"/>
            <a:ext cx="2586152" cy="960120"/>
          </a:xfrm>
          <a:prstGeom prst="roundRect">
            <a:avLst>
              <a:gd name="adj" fmla="val 7619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9157487" y="1481328"/>
            <a:ext cx="2293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26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25×6 cm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120911" y="1883664"/>
            <a:ext cx="2366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Ekim aralığı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2606040"/>
            <a:ext cx="3521354" cy="2926080"/>
          </a:xfrm>
          <a:prstGeom prst="roundRect">
            <a:avLst>
              <a:gd name="adj" fmla="val 2813"/>
            </a:avLst>
          </a:prstGeom>
          <a:solidFill>
            <a:srgbClr val="EDF3E6"/>
          </a:solidFill>
          <a:ln w="12700">
            <a:solidFill>
              <a:srgbClr val="EDF3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832104" y="2761488"/>
            <a:ext cx="30458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Takvim ve ekim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3136392"/>
            <a:ext cx="2972714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Doğrudan yerine ekim: 1 Eylül – 5 Ekim.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Erken eylül ekimi kasımda hasat verir.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Ekim ayı ekimleri kışı rozet halinde geçirip mart–nisanda hasat edilir.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Ekim derinliği 2–3 cm; daha derin ekim çıkışı geciktirir.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4335170" y="2606040"/>
            <a:ext cx="3521354" cy="2926080"/>
          </a:xfrm>
          <a:prstGeom prst="roundRect">
            <a:avLst>
              <a:gd name="adj" fmla="val 2813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4572914" y="2761488"/>
            <a:ext cx="30458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Toprak ve yer seçimi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609490" y="3136392"/>
            <a:ext cx="2972714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Azotça zengin, iyi işlenmiş, nemli toprak ister.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6,5–7,5 arası uygundur; asit toprakta gelişmez.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Ekimden önce kompost verilmesi yaprak kalitesini belirgin artırır.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tutmayan kumlu toprakta yapraklar küçük ve sert kalır.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8075981" y="2606040"/>
            <a:ext cx="3521354" cy="2926080"/>
          </a:xfrm>
          <a:prstGeom prst="roundRect">
            <a:avLst>
              <a:gd name="adj" fmla="val 2813"/>
            </a:avLst>
          </a:prstGeom>
          <a:solidFill>
            <a:srgbClr val="EDF3E6"/>
          </a:solidFill>
          <a:ln w="12700">
            <a:solidFill>
              <a:srgbClr val="EDF3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8313725" y="2761488"/>
            <a:ext cx="30458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Çeşit ve pratik notlar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350301" y="3136392"/>
            <a:ext cx="2972714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Kışlık için geniş yapraklı, soğuğa dayanıklı çeşitler seçilir.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Sivri yapraklı çeşitler daha erkencidir, hızlı hasat verir.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hafta arayla ekim yaparsanız hasat aylara yayılır.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 altında kalan bitki ilkbaharda hızla yeniden sürer.</a:t>
            </a:r>
            <a:endParaRPr lang="en-US" sz="1220" dirty="0"/>
          </a:p>
        </p:txBody>
      </p:sp>
      <p:sp>
        <p:nvSpPr>
          <p:cNvPr id="27" name="Text 24"/>
          <p:cNvSpPr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943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Ankara · Güzlük–Kışlık Sebze Yetiştiriciliği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ISPANAK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Ispanak: bakım, sorunlar ve hasat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3521354" cy="2971800"/>
          </a:xfrm>
          <a:prstGeom prst="roundRect">
            <a:avLst>
              <a:gd name="adj" fmla="val 2769"/>
            </a:avLst>
          </a:prstGeom>
          <a:solidFill>
            <a:srgbClr val="EDF3E6"/>
          </a:solidFill>
          <a:ln w="12700">
            <a:solidFill>
              <a:srgbClr val="EDF3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832104" y="1572768"/>
            <a:ext cx="30458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Bakım işleri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1947672"/>
            <a:ext cx="2972714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Çıkıştan 2–3 hafta sonra sıra üzeri 5–8 cm kalacak şekilde seyreltilir.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Seyreltilen fideler salatada kullanılabilir.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Toprak yüzeyi kurumayacak şekilde sık ve az sulanır.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Kışa girerken hafif malç serilirse kış zararı azalır.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4335170" y="1417320"/>
            <a:ext cx="3521354" cy="2971800"/>
          </a:xfrm>
          <a:prstGeom prst="roundRect">
            <a:avLst>
              <a:gd name="adj" fmla="val 2769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4572914" y="1572768"/>
            <a:ext cx="30458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Sık görülen sorunlar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09490" y="1947672"/>
            <a:ext cx="2972714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Mildiyö: yaprak altında gri küf; sık ekim ve nemde artar, seyreltme ile önlenir.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Yaprak galeri sineği: yaprakta beyaz kıvrımlı tüneller açar, bulaşık yapraklar toplanır.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Erken sapa kalkma: geç ekim ve sıcak hava sapa kalkmayı hızlandırır.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Sararma çoğunlukla azot eksikliğinin işaretidir.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8075981" y="1417320"/>
            <a:ext cx="3521354" cy="2971800"/>
          </a:xfrm>
          <a:prstGeom prst="roundRect">
            <a:avLst>
              <a:gd name="adj" fmla="val 2769"/>
            </a:avLst>
          </a:prstGeom>
          <a:solidFill>
            <a:srgbClr val="EDF3E6"/>
          </a:solidFill>
          <a:ln w="12700">
            <a:solidFill>
              <a:srgbClr val="EDF3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8313725" y="1572768"/>
            <a:ext cx="30458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Hasat ve saklama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50301" y="1947672"/>
            <a:ext cx="2972714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Dış yapraklardan tek tek toplanırsa bitki üretmeye devam eder.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Kökten kesim yapılacaksa 8–10 yapraklı dönem beklenir.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Dondan sonra toplanan ıspanak belirgin şekilde tatlıdır.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Donmuş yaprak toplanmaz; gün ısındıktan sonra hasat edilir.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594360" y="4663440"/>
            <a:ext cx="11002975" cy="868680"/>
          </a:xfrm>
          <a:prstGeom prst="roundRect">
            <a:avLst>
              <a:gd name="adj" fmla="val 9474"/>
            </a:avLst>
          </a:prstGeom>
          <a:solidFill>
            <a:srgbClr val="E8EFDF"/>
          </a:solidFill>
          <a:ln w="12700">
            <a:solidFill>
              <a:srgbClr val="E8EFD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868680" y="4873752"/>
            <a:ext cx="457200" cy="457200"/>
          </a:xfrm>
          <a:prstGeom prst="ellipse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868680" y="4873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508760" y="4800600"/>
            <a:ext cx="97228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E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Ispanak Ankara kışını kar altında rahatlıkla geçirir; kar aslında en iyi örtüdür.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943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Ankara · Güzlük–Kışlık Sebze Yetiştiriciliği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DDE7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508760" y="329184"/>
            <a:ext cx="100885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TURPGILLER · RAPHANUS SATIVUS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508760" y="585216"/>
            <a:ext cx="100885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2586152" cy="960120"/>
          </a:xfrm>
          <a:prstGeom prst="roundRect">
            <a:avLst>
              <a:gd name="adj" fmla="val 7619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740664" y="1481328"/>
            <a:ext cx="2293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26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12–20 °C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04088" y="1883664"/>
            <a:ext cx="2366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Optimum gelişme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99968" y="1371600"/>
            <a:ext cx="2586152" cy="960120"/>
          </a:xfrm>
          <a:prstGeom prst="roundRect">
            <a:avLst>
              <a:gd name="adj" fmla="val 7619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3546272" y="1481328"/>
            <a:ext cx="2293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26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−4 °C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509696" y="1883664"/>
            <a:ext cx="2366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 dayanımı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05576" y="1371600"/>
            <a:ext cx="2586152" cy="960120"/>
          </a:xfrm>
          <a:prstGeom prst="roundRect">
            <a:avLst>
              <a:gd name="adj" fmla="val 7619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6351880" y="1481328"/>
            <a:ext cx="2293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26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30–60 gün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15304" y="1883664"/>
            <a:ext cx="2366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Ekimden hasada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11183" y="1371600"/>
            <a:ext cx="2586152" cy="960120"/>
          </a:xfrm>
          <a:prstGeom prst="roundRect">
            <a:avLst>
              <a:gd name="adj" fmla="val 7619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9157487" y="1481328"/>
            <a:ext cx="2293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26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25×6 cm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120911" y="1883664"/>
            <a:ext cx="2366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Ekim aralığı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2606040"/>
            <a:ext cx="3521354" cy="2926080"/>
          </a:xfrm>
          <a:prstGeom prst="roundRect">
            <a:avLst>
              <a:gd name="adj" fmla="val 2813"/>
            </a:avLst>
          </a:prstGeom>
          <a:solidFill>
            <a:srgbClr val="EDF3E6"/>
          </a:solidFill>
          <a:ln w="12700">
            <a:solidFill>
              <a:srgbClr val="EDF3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832104" y="2761488"/>
            <a:ext cx="30458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Takvim ve ekim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3136392"/>
            <a:ext cx="2972714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Bahçe turpu: 20 Ağustos – 30 Eylül, 15 gün arayla partiler halinde ekilir.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Kışlık (bayır) turbu: ağustos sonu ekilir, 60–70 günde hasat olur.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Ekim derinliği 1–2 cm.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Partili ekim, hasadın aylara yayılmasını sağlar.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4335170" y="2606040"/>
            <a:ext cx="3521354" cy="2926080"/>
          </a:xfrm>
          <a:prstGeom prst="roundRect">
            <a:avLst>
              <a:gd name="adj" fmla="val 2813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4572914" y="2761488"/>
            <a:ext cx="30458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Toprak ve yer seçimi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609490" y="3136392"/>
            <a:ext cx="2972714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Gevşek, taşsız, orta ağır toprak ister.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Taze gübre verilmez; kök çatallanır ve acılaşır.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6,0–7,0 uygundur.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Sıkışmış toprakta kök yuvarlak gelişemez.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8075981" y="2606040"/>
            <a:ext cx="3521354" cy="2926080"/>
          </a:xfrm>
          <a:prstGeom prst="roundRect">
            <a:avLst>
              <a:gd name="adj" fmla="val 2813"/>
            </a:avLst>
          </a:prstGeom>
          <a:solidFill>
            <a:srgbClr val="EDF3E6"/>
          </a:solidFill>
          <a:ln w="12700">
            <a:solidFill>
              <a:srgbClr val="EDF3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8313725" y="2761488"/>
            <a:ext cx="30458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Çeşit ve pratik notlar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350301" y="3136392"/>
            <a:ext cx="2972714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Bahçe turbu hızlı tüketim, bayır turbu kışlık saklama içindir.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Kırmızı yuvarlak çeşitler 30 günde hasada gelir.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Siyah kış turbu Ankara koşullarında iyi sonuç verir.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Sonbahar ekimleri ilkbahar ekimlerine göre daha az acılaşır.</a:t>
            </a:r>
            <a:endParaRPr lang="en-US" sz="1220" dirty="0"/>
          </a:p>
        </p:txBody>
      </p:sp>
      <p:sp>
        <p:nvSpPr>
          <p:cNvPr id="27" name="Text 24"/>
          <p:cNvSpPr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943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Ankara · Güzlük–Kışlık Sebze Yetiştiriciliği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Turp: bakım, sorunlar ve hasat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3521354" cy="2971800"/>
          </a:xfrm>
          <a:prstGeom prst="roundRect">
            <a:avLst>
              <a:gd name="adj" fmla="val 2769"/>
            </a:avLst>
          </a:prstGeom>
          <a:solidFill>
            <a:srgbClr val="EDF3E6"/>
          </a:solidFill>
          <a:ln w="12700">
            <a:solidFill>
              <a:srgbClr val="EDF3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832104" y="1572768"/>
            <a:ext cx="30458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Bakım işleri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1947672"/>
            <a:ext cx="2972714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Çıkıştan 10 gün sonra sıra üzeri 5–8 cm kalacak şekilde seyreltilir.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Seyreltme yapılmayan turp kök bağlamaz, sadece yaprak yapar.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düzenli verilir; kuruyup ıslanan toprakta kökler çatlar.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Aşırı azot yaprağı azdırır, kökü küçültür.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4335170" y="1417320"/>
            <a:ext cx="3521354" cy="2971800"/>
          </a:xfrm>
          <a:prstGeom prst="roundRect">
            <a:avLst>
              <a:gd name="adj" fmla="val 2769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4572914" y="1572768"/>
            <a:ext cx="30458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Sık görülen sorunlar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09490" y="1947672"/>
            <a:ext cx="2972714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Acılaşma: susuzluk ve yüksek sıcaklığın sonucudur.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İçi boşalma (süngerleşme): hasadın gecikmesiyle olur.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Toprak piresi: yapraklarda iğne deliği gibi delikler açar; ince örtü ile korunur.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Çatlama: düzensiz sulamadan kaynaklanır.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8075981" y="1417320"/>
            <a:ext cx="3521354" cy="2971800"/>
          </a:xfrm>
          <a:prstGeom prst="roundRect">
            <a:avLst>
              <a:gd name="adj" fmla="val 2769"/>
            </a:avLst>
          </a:prstGeom>
          <a:solidFill>
            <a:srgbClr val="EDF3E6"/>
          </a:solidFill>
          <a:ln w="12700">
            <a:solidFill>
              <a:srgbClr val="EDF3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8313725" y="1572768"/>
            <a:ext cx="30458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Hasat ve saklama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50301" y="1947672"/>
            <a:ext cx="2972714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Kök çapı 2–3 cm olduğunda (bayır turbunda 6–8 cm) hasat edilir.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Zamanında toplanmayan turp sertleşir ve acılaşır.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Yapraklar kesilerek serin yerde 2–3 hafta saklanır.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Kışlık turp kum içinde birkaç ay dayanır.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594360" y="4663440"/>
            <a:ext cx="11002975" cy="868680"/>
          </a:xfrm>
          <a:prstGeom prst="roundRect">
            <a:avLst>
              <a:gd name="adj" fmla="val 9474"/>
            </a:avLst>
          </a:prstGeom>
          <a:solidFill>
            <a:srgbClr val="E8EFDF"/>
          </a:solidFill>
          <a:ln w="12700">
            <a:solidFill>
              <a:srgbClr val="E8EFD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868680" y="4873752"/>
            <a:ext cx="457200" cy="457200"/>
          </a:xfrm>
          <a:prstGeom prst="ellipse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868680" y="4873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508760" y="4800600"/>
            <a:ext cx="97228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E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Turp bostanın 'işaret bitkisidir': hızlı çıkışıyla toprakta sorun olup olmadığını erkenden gösterir.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943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Ankara · Güzlük–Kışlık Sebze Yetiştiriciliği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DDE7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508760" y="329184"/>
            <a:ext cx="100885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SOĞANGILLER · ALLIUM CEPA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508760" y="585216"/>
            <a:ext cx="100885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Soğan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2586152" cy="960120"/>
          </a:xfrm>
          <a:prstGeom prst="roundRect">
            <a:avLst>
              <a:gd name="adj" fmla="val 7619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740664" y="1481328"/>
            <a:ext cx="2293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26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13–24 °C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04088" y="1883664"/>
            <a:ext cx="2366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Optimum gelişme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99968" y="1371600"/>
            <a:ext cx="2586152" cy="960120"/>
          </a:xfrm>
          <a:prstGeom prst="roundRect">
            <a:avLst>
              <a:gd name="adj" fmla="val 7619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3546272" y="1481328"/>
            <a:ext cx="2293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26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−10 °C altı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509696" y="1883664"/>
            <a:ext cx="2366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 dayanımı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05576" y="1371600"/>
            <a:ext cx="2586152" cy="960120"/>
          </a:xfrm>
          <a:prstGeom prst="roundRect">
            <a:avLst>
              <a:gd name="adj" fmla="val 7619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6351880" y="1481328"/>
            <a:ext cx="2293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26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Haziran–Temmuz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15304" y="1883664"/>
            <a:ext cx="2366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 soğan hasadı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11183" y="1371600"/>
            <a:ext cx="2586152" cy="960120"/>
          </a:xfrm>
          <a:prstGeom prst="roundRect">
            <a:avLst>
              <a:gd name="adj" fmla="val 7619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9157487" y="1481328"/>
            <a:ext cx="2293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26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25×10 cm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120911" y="1883664"/>
            <a:ext cx="2366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Dikim aralığı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2606040"/>
            <a:ext cx="3521354" cy="2926080"/>
          </a:xfrm>
          <a:prstGeom prst="roundRect">
            <a:avLst>
              <a:gd name="adj" fmla="val 2813"/>
            </a:avLst>
          </a:prstGeom>
          <a:solidFill>
            <a:srgbClr val="EDF3E6"/>
          </a:solidFill>
          <a:ln w="12700">
            <a:solidFill>
              <a:srgbClr val="EDF3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832104" y="2761488"/>
            <a:ext cx="30458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Takvim ve ekim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3136392"/>
            <a:ext cx="2972714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Kışlık dikim: 10 Ekim – 10 Kasım arasında arpacık dikilir.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Dikim derinliği 3–4 cm; sivri uç yukarı bakacak şekilde.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Taze (yeşil) soğan için sık dikilip kışboyu kademeli toplanır.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 soğan hasadı ertesi yıl haziran–temmuzda yapılır.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4335170" y="2606040"/>
            <a:ext cx="3521354" cy="2926080"/>
          </a:xfrm>
          <a:prstGeom prst="roundRect">
            <a:avLst>
              <a:gd name="adj" fmla="val 2813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4572914" y="2761488"/>
            <a:ext cx="30458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Toprak ve yer seçimi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609490" y="3136392"/>
            <a:ext cx="2972714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Gevşek, süzek, organik maddece zengin toprak ister.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Taze gübre verilmez; boyun çürüklüğü riskini artırır.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6,0–7,0 uygundur.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tutan ağır toprakta kök çürüklüğü kaçınılmazdır.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8075981" y="2606040"/>
            <a:ext cx="3521354" cy="2926080"/>
          </a:xfrm>
          <a:prstGeom prst="roundRect">
            <a:avLst>
              <a:gd name="adj" fmla="val 2813"/>
            </a:avLst>
          </a:prstGeom>
          <a:solidFill>
            <a:srgbClr val="EDF3E6"/>
          </a:solidFill>
          <a:ln w="12700">
            <a:solidFill>
              <a:srgbClr val="EDF3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8313725" y="2761488"/>
            <a:ext cx="30458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Çeşit ve pratik notlar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350301" y="3136392"/>
            <a:ext cx="2972714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Arpacık 1,5–2 cm çapında olmalı; iri arpacık sapa kalkar.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Sarı çeşitler saklamaya, kırmızı çeşitler taze tüketime uygundur.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Yeşil soğan için sık dikip aralardan kademeli toplayın.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Sertifikalı arpacık hastalık riskini belirgin şekilde azaltır.</a:t>
            </a:r>
            <a:endParaRPr lang="en-US" sz="1220" dirty="0"/>
          </a:p>
        </p:txBody>
      </p:sp>
      <p:sp>
        <p:nvSpPr>
          <p:cNvPr id="27" name="Text 24"/>
          <p:cNvSpPr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943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Ankara · Güzlük–Kışlık Sebze Yetiştiriciliği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SOĞAN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Soğan: bakım, sorunlar ve hasat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3521354" cy="2971800"/>
          </a:xfrm>
          <a:prstGeom prst="roundRect">
            <a:avLst>
              <a:gd name="adj" fmla="val 2769"/>
            </a:avLst>
          </a:prstGeom>
          <a:solidFill>
            <a:srgbClr val="EDF3E6"/>
          </a:solidFill>
          <a:ln w="12700">
            <a:solidFill>
              <a:srgbClr val="EDF3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832104" y="1572768"/>
            <a:ext cx="30458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Bakım işleri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1947672"/>
            <a:ext cx="2972714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Kışa girerken hafif malç don çatlamasını önler.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İlkbaharda çıkışla birlikte azotlu üst gübre verilir.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Yabancı ot rekabetine çok hassastır; düzenli çapa şart.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Hasattan 2–3 hafta önce sulama tamamen kesilir.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4335170" y="1417320"/>
            <a:ext cx="3521354" cy="2971800"/>
          </a:xfrm>
          <a:prstGeom prst="roundRect">
            <a:avLst>
              <a:gd name="adj" fmla="val 2769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4572914" y="1572768"/>
            <a:ext cx="30458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Sık görülen sorunlar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09490" y="1947672"/>
            <a:ext cx="2972714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Mildiyö: yapraklarda soluk lekeler; sık dikim ve nemde artar.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Soğan sineği: kök boğazında larva; münavebe ile önlenir.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Erken sapa kalkma: iri arpacık kullanıldığında görülür, 1,5–2 cm çaplı arpacık tercih edin.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Boyun çürüklüğü: hasat sonrası yeterince kurutulmayan soğanlarda ortaya çıkar.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8075981" y="1417320"/>
            <a:ext cx="3521354" cy="2971800"/>
          </a:xfrm>
          <a:prstGeom prst="roundRect">
            <a:avLst>
              <a:gd name="adj" fmla="val 2769"/>
            </a:avLst>
          </a:prstGeom>
          <a:solidFill>
            <a:srgbClr val="EDF3E6"/>
          </a:solidFill>
          <a:ln w="12700">
            <a:solidFill>
              <a:srgbClr val="EDF3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8313725" y="1572768"/>
            <a:ext cx="30458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Hasat ve saklama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50301" y="1947672"/>
            <a:ext cx="2972714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Yaprakların yarıdan fazlası devrildiğinde hasat zamanı gelmiştir.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 havada sökülür, tarlada 5–7 gün gölgede kurutulur.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Boyun tamamen kuruyunca örülür veya file torbaya alınır.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Serin, kuru ve karanlık yerde aylarca saklanır.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594360" y="4663440"/>
            <a:ext cx="11002975" cy="868680"/>
          </a:xfrm>
          <a:prstGeom prst="roundRect">
            <a:avLst>
              <a:gd name="adj" fmla="val 9474"/>
            </a:avLst>
          </a:prstGeom>
          <a:solidFill>
            <a:srgbClr val="E8EFDF"/>
          </a:solidFill>
          <a:ln w="12700">
            <a:solidFill>
              <a:srgbClr val="E8EFD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868680" y="4873752"/>
            <a:ext cx="457200" cy="457200"/>
          </a:xfrm>
          <a:prstGeom prst="ellipse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868680" y="4873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508760" y="4800600"/>
            <a:ext cx="97228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E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Kışlık soğan, ilkbaharda dikilene göre 3–4 hafta erken hasat verir ve iriliği daha yüksektir.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943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Ankara · Güzlük–Kışlık Sebze Yetiştiriciliği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DDE7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508760" y="329184"/>
            <a:ext cx="100885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SOĞANGILLER · ALLIUM PORRUM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508760" y="585216"/>
            <a:ext cx="100885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Pırasa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2586152" cy="960120"/>
          </a:xfrm>
          <a:prstGeom prst="roundRect">
            <a:avLst>
              <a:gd name="adj" fmla="val 7619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740664" y="1481328"/>
            <a:ext cx="2293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26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15–20 °C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04088" y="1883664"/>
            <a:ext cx="2366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Optimum gelişme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99968" y="1371600"/>
            <a:ext cx="2586152" cy="960120"/>
          </a:xfrm>
          <a:prstGeom prst="roundRect">
            <a:avLst>
              <a:gd name="adj" fmla="val 7619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3546272" y="1481328"/>
            <a:ext cx="2293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26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−15 °C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509696" y="1883664"/>
            <a:ext cx="2366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 dayanımı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05576" y="1371600"/>
            <a:ext cx="2586152" cy="960120"/>
          </a:xfrm>
          <a:prstGeom prst="roundRect">
            <a:avLst>
              <a:gd name="adj" fmla="val 7619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6351880" y="1481328"/>
            <a:ext cx="2293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26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150–180 gün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15304" y="1883664"/>
            <a:ext cx="2366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Dikimden hasada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11183" y="1371600"/>
            <a:ext cx="2586152" cy="960120"/>
          </a:xfrm>
          <a:prstGeom prst="roundRect">
            <a:avLst>
              <a:gd name="adj" fmla="val 7619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9157487" y="1481328"/>
            <a:ext cx="2293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26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45×12 cm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120911" y="1883664"/>
            <a:ext cx="2366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Dikim aralığı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2606040"/>
            <a:ext cx="3521354" cy="2926080"/>
          </a:xfrm>
          <a:prstGeom prst="roundRect">
            <a:avLst>
              <a:gd name="adj" fmla="val 2813"/>
            </a:avLst>
          </a:prstGeom>
          <a:solidFill>
            <a:srgbClr val="EDF3E6"/>
          </a:solidFill>
          <a:ln w="12700">
            <a:solidFill>
              <a:srgbClr val="EDF3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832104" y="2761488"/>
            <a:ext cx="30458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Takvim ve ekim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3136392"/>
            <a:ext cx="2972714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Fidelik ekimi: şubat–mart (soğuk yastık veya sera).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 dikimi: haziran–temmuz, kalem kalınlığına geldiğinde.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Hasat: kasım – şubat; toprakta bekletilerek kademeli toplanır.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Uzun süre tarlada kalır; parsel planında bunu hesaba katın.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4335170" y="2606040"/>
            <a:ext cx="3521354" cy="2926080"/>
          </a:xfrm>
          <a:prstGeom prst="roundRect">
            <a:avLst>
              <a:gd name="adj" fmla="val 2813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4572914" y="2761488"/>
            <a:ext cx="30458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Toprak ve yer seçimi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609490" y="3136392"/>
            <a:ext cx="2972714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Derin, organik maddece zengin, nemli toprak ister.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6,5–7,5 uygundur.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Dikimden önce bol kompost verilir; ağır beslenen bir türdür.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Dikim 10–15 cm derinlikte açılan karıklara yapılır.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8075981" y="2606040"/>
            <a:ext cx="3521354" cy="2926080"/>
          </a:xfrm>
          <a:prstGeom prst="roundRect">
            <a:avLst>
              <a:gd name="adj" fmla="val 2813"/>
            </a:avLst>
          </a:prstGeom>
          <a:solidFill>
            <a:srgbClr val="EDF3E6"/>
          </a:solidFill>
          <a:ln w="12700">
            <a:solidFill>
              <a:srgbClr val="EDF3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8313725" y="2761488"/>
            <a:ext cx="30458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Çeşit ve pratik notlar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350301" y="3136392"/>
            <a:ext cx="2972714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Kalın gövdeli, geççi çeşitler kış hasadı için uygundur.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İnce ve uzun çeşitler daha erken hasat verir.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Fidelikte sıklık 2–3 cm olmalı; sık fidelikte gövde incelir.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parselde dört yıl üst üste pırasa ekmeyin.</a:t>
            </a:r>
            <a:endParaRPr lang="en-US" sz="1220" dirty="0"/>
          </a:p>
        </p:txBody>
      </p:sp>
      <p:sp>
        <p:nvSpPr>
          <p:cNvPr id="27" name="Text 24"/>
          <p:cNvSpPr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943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Ankara · Güzlük–Kışlık Sebze Yetiştiriciliği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PIRASA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Pırasa: bakım, sorunlar ve hasat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3521354" cy="2971800"/>
          </a:xfrm>
          <a:prstGeom prst="roundRect">
            <a:avLst>
              <a:gd name="adj" fmla="val 2769"/>
            </a:avLst>
          </a:prstGeom>
          <a:solidFill>
            <a:srgbClr val="EDF3E6"/>
          </a:solidFill>
          <a:ln w="12700">
            <a:solidFill>
              <a:srgbClr val="EDF3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832104" y="1572768"/>
            <a:ext cx="30458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Bakım işleri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1947672"/>
            <a:ext cx="2972714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Boğaz doldurma en kritik işlemdir: 3–4 kez toprak çekilir.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Toprak çekildikçe gövdenin beyaz kısmı uzar ve yumuşar.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Dikimde köklerin ve yaprakların uçları üçte bir oranında kesilir.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 boyunca düzenli sulama gerekir.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4335170" y="1417320"/>
            <a:ext cx="3521354" cy="2971800"/>
          </a:xfrm>
          <a:prstGeom prst="roundRect">
            <a:avLst>
              <a:gd name="adj" fmla="val 2769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4572914" y="1572768"/>
            <a:ext cx="30458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Sık görülen sorunlar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09490" y="1947672"/>
            <a:ext cx="2972714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Pırasa güvesi: yapraklarda tüneller açar; bulaşık yapraklar temizlenir.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hastalığı: yapraklarda turuncu püstüller, sık dikimde artar.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Soğan sineği: münavebe ve temiz fide ile önlenir.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Boğaz doldurulmadığında gövde kısa ve yeşil kalır, kalite düşer.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8075981" y="1417320"/>
            <a:ext cx="3521354" cy="2971800"/>
          </a:xfrm>
          <a:prstGeom prst="roundRect">
            <a:avLst>
              <a:gd name="adj" fmla="val 2769"/>
            </a:avLst>
          </a:prstGeom>
          <a:solidFill>
            <a:srgbClr val="EDF3E6"/>
          </a:solidFill>
          <a:ln w="12700">
            <a:solidFill>
              <a:srgbClr val="EDF3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8313725" y="1572768"/>
            <a:ext cx="30458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Hasat ve saklama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50301" y="1947672"/>
            <a:ext cx="2972714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Gövde 2,5–3 cm çapa ulaştığında hasada başlanır.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 küreğiyle altından gevşetilerek çekilir, çekiştirilmez.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Kış boyunca toprakta bırakılıp ihtiyaç kadar sökülebilir.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Dondan sonra tadı belirgin şekilde iyileşir.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594360" y="4663440"/>
            <a:ext cx="11002975" cy="868680"/>
          </a:xfrm>
          <a:prstGeom prst="roundRect">
            <a:avLst>
              <a:gd name="adj" fmla="val 9474"/>
            </a:avLst>
          </a:prstGeom>
          <a:solidFill>
            <a:srgbClr val="E8EFDF"/>
          </a:solidFill>
          <a:ln w="12700">
            <a:solidFill>
              <a:srgbClr val="E8EFD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868680" y="4873752"/>
            <a:ext cx="457200" cy="457200"/>
          </a:xfrm>
          <a:prstGeom prst="ellipse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868680" y="4873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508760" y="4800600"/>
            <a:ext cx="97228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E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Pırasa Ankara kışının en güvenilir sebzesidir: kar altında kalsa bile zarar görmez.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943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Ankara · Güzlük–Kışlık Sebze Yetiştiriciliği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DDE7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508760" y="329184"/>
            <a:ext cx="100885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MAYDANOZGILLER · DAUCUS CAROTA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508760" y="585216"/>
            <a:ext cx="100885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Havuç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2586152" cy="960120"/>
          </a:xfrm>
          <a:prstGeom prst="roundRect">
            <a:avLst>
              <a:gd name="adj" fmla="val 7619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740664" y="1481328"/>
            <a:ext cx="2293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26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16–21 °C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04088" y="1883664"/>
            <a:ext cx="2366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Optimum gelişme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99968" y="1371600"/>
            <a:ext cx="2586152" cy="960120"/>
          </a:xfrm>
          <a:prstGeom prst="roundRect">
            <a:avLst>
              <a:gd name="adj" fmla="val 7619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3546272" y="1481328"/>
            <a:ext cx="2293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26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−5 °C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509696" y="1883664"/>
            <a:ext cx="2366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 dayanımı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05576" y="1371600"/>
            <a:ext cx="2586152" cy="960120"/>
          </a:xfrm>
          <a:prstGeom prst="roundRect">
            <a:avLst>
              <a:gd name="adj" fmla="val 7619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6351880" y="1481328"/>
            <a:ext cx="2293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26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100–130 gün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15304" y="1883664"/>
            <a:ext cx="2366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Ekimden hasada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11183" y="1371600"/>
            <a:ext cx="2586152" cy="960120"/>
          </a:xfrm>
          <a:prstGeom prst="roundRect">
            <a:avLst>
              <a:gd name="adj" fmla="val 7619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9157487" y="1481328"/>
            <a:ext cx="2293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26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30×5 cm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120911" y="1883664"/>
            <a:ext cx="2366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Ekim aralığı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2606040"/>
            <a:ext cx="3521354" cy="2926080"/>
          </a:xfrm>
          <a:prstGeom prst="roundRect">
            <a:avLst>
              <a:gd name="adj" fmla="val 2813"/>
            </a:avLst>
          </a:prstGeom>
          <a:solidFill>
            <a:srgbClr val="EDF3E6"/>
          </a:solidFill>
          <a:ln w="12700">
            <a:solidFill>
              <a:srgbClr val="EDF3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832104" y="2761488"/>
            <a:ext cx="30458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Takvim ve ekim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3136392"/>
            <a:ext cx="2972714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Güzlük ekim: 1–20 Ağustos, doğrudan yerine.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Hasat: kasım – aralık.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Ekim derinliği 1–1,5 cm; üzeri elenmiş harçla kapatılır.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Çimlenme 12–18 gün sürer; bu sürede toprak yüzeyi kurumamalı.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4335170" y="2606040"/>
            <a:ext cx="3521354" cy="2926080"/>
          </a:xfrm>
          <a:prstGeom prst="roundRect">
            <a:avLst>
              <a:gd name="adj" fmla="val 2813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4572914" y="2761488"/>
            <a:ext cx="30458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Toprak ve yer seçimi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609490" y="3136392"/>
            <a:ext cx="2972714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Derin, gevşek, taşsız ve kumlu-tın toprak şarttır.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Taze gübre kesinlikle verilmez: kök çatallanır ve tüylenir.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Toprak 30 cm derinliğe kadar iyice gevşetilmelidir.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6,0–7,0 uygundur.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8075981" y="2606040"/>
            <a:ext cx="3521354" cy="2926080"/>
          </a:xfrm>
          <a:prstGeom prst="roundRect">
            <a:avLst>
              <a:gd name="adj" fmla="val 2813"/>
            </a:avLst>
          </a:prstGeom>
          <a:solidFill>
            <a:srgbClr val="EDF3E6"/>
          </a:solidFill>
          <a:ln w="12700">
            <a:solidFill>
              <a:srgbClr val="EDF3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8313725" y="2761488"/>
            <a:ext cx="30458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Çeşit ve pratik notlar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350301" y="3136392"/>
            <a:ext cx="2972714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Nantes tipi çeşitler bostan toprağında düzgün kök verir.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Kısa boylu (chantenay) çeşitler ağır toprağa daha uygundur.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Tohumu kum ile karıştırarak ekmek sıra dağılımını düzeltir.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Ekimden sonra çuval örtmek çıkışı belirgin şekilde iyileştirir.</a:t>
            </a:r>
            <a:endParaRPr lang="en-US" sz="1220" dirty="0"/>
          </a:p>
        </p:txBody>
      </p:sp>
      <p:sp>
        <p:nvSpPr>
          <p:cNvPr id="27" name="Text 24"/>
          <p:cNvSpPr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943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Ankara · Güzlük–Kışlık Sebze Yetiştiriciliği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HAVUÇ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Havuç: bakım, sorunlar ve hasat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3521354" cy="2971800"/>
          </a:xfrm>
          <a:prstGeom prst="roundRect">
            <a:avLst>
              <a:gd name="adj" fmla="val 2769"/>
            </a:avLst>
          </a:prstGeom>
          <a:solidFill>
            <a:srgbClr val="EDF3E6"/>
          </a:solidFill>
          <a:ln w="12700">
            <a:solidFill>
              <a:srgbClr val="EDF3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832104" y="1572768"/>
            <a:ext cx="30458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Bakım işleri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1947672"/>
            <a:ext cx="2972714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Çıkıştan sonra iki aşamada seyreltme yapılır: önce 2–3 cm, sonra 5 cm.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Seyreltme yapılmayan havuç ince ve eğri kalır.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Omuz kısmı toprak yüzeyine çıkarsa yeşillenir; üzerine toprak çekin.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Düzenli sulama çatlamayı önler.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4335170" y="1417320"/>
            <a:ext cx="3521354" cy="2971800"/>
          </a:xfrm>
          <a:prstGeom prst="roundRect">
            <a:avLst>
              <a:gd name="adj" fmla="val 2769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4572914" y="1572768"/>
            <a:ext cx="30458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Sık görülen sorunlar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09490" y="1947672"/>
            <a:ext cx="2972714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Çatallanma: taş, sert tabaka veya taze gübre nedeniyle.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Çatlama: kuruluk sonrası ani bol sulamadan.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Havuç sineği: kökte kahverengi tüneller açar; ince örtü ve münavebe etkilidir.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Yeşil omuz: güneş gören kök kısmında acılık oluşur.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8075981" y="1417320"/>
            <a:ext cx="3521354" cy="2971800"/>
          </a:xfrm>
          <a:prstGeom prst="roundRect">
            <a:avLst>
              <a:gd name="adj" fmla="val 2769"/>
            </a:avLst>
          </a:prstGeom>
          <a:solidFill>
            <a:srgbClr val="EDF3E6"/>
          </a:solidFill>
          <a:ln w="12700">
            <a:solidFill>
              <a:srgbClr val="EDF3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8313725" y="1572768"/>
            <a:ext cx="30458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Hasat ve saklama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50301" y="1947672"/>
            <a:ext cx="2972714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Kök çapı 2–3 cm olduğunda hasat edilir.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Toprak nemliyken çekilir, kuruda kırılır.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Ilıman geçen kışlarda malç altında toprakta saklanabilir.</a:t>
            </a:r>
            <a:endParaRPr lang="en-US" sz="122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2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Yaprakları hemen kesilir; yoksa kök su kaybeder.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594360" y="4663440"/>
            <a:ext cx="11002975" cy="868680"/>
          </a:xfrm>
          <a:prstGeom prst="roundRect">
            <a:avLst>
              <a:gd name="adj" fmla="val 9474"/>
            </a:avLst>
          </a:prstGeom>
          <a:solidFill>
            <a:srgbClr val="E8EFDF"/>
          </a:solidFill>
          <a:ln w="12700">
            <a:solidFill>
              <a:srgbClr val="E8EFD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868680" y="4873752"/>
            <a:ext cx="457200" cy="457200"/>
          </a:xfrm>
          <a:prstGeom prst="ellipse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868680" y="4873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508760" y="4800600"/>
            <a:ext cx="97228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E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Havuç tohumu çok küçüktür; kum ile karıştırarak ekmek daha düzgün bir sıra dağılımı sağlar.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943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Ankara · Güzlük–Kışlık Sebze Yetiştiriciliği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KARŞILAŞTIRMA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Hangi sebze ne kadar soğuğa dayanır?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94360" y="1371600"/>
          <a:ext cx="68580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371600"/>
            <a:ext cx="3822192" cy="2057400"/>
          </a:xfrm>
          <a:prstGeom prst="roundRect">
            <a:avLst>
              <a:gd name="adj" fmla="val 4000"/>
            </a:avLst>
          </a:prstGeom>
          <a:solidFill>
            <a:srgbClr val="EDF3E6"/>
          </a:solidFill>
          <a:ln w="12700">
            <a:solidFill>
              <a:srgbClr val="EDF3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3"/>
          <p:cNvSpPr/>
          <p:nvPr/>
        </p:nvSpPr>
        <p:spPr>
          <a:xfrm>
            <a:off x="8010144" y="1527048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Nasıl okunmalı?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046720" y="1901952"/>
            <a:ext cx="327355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Değerler kısa süreli don için geçerlidir; günlerce süren soğukta zarar artar.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 örtüsü doğal bir yalıtımdır, bitkiyi korur.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 ve rüzgârlı don, nemli dondan daha zararlıdır.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772400" y="3611880"/>
            <a:ext cx="3822192" cy="2057400"/>
          </a:xfrm>
          <a:prstGeom prst="roundRect">
            <a:avLst>
              <a:gd name="adj" fmla="val 4000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/>
          <p:nvPr/>
        </p:nvSpPr>
        <p:spPr>
          <a:xfrm>
            <a:off x="8010144" y="3767328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Sonuç ne demek?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046720" y="4142232"/>
            <a:ext cx="327355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Pırasa, soğan ve ıspanak Ankara kışını tarlada geçirir.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Karnabahar ve turp ilk kuvvetli donlardan önce hasat edilmelidir.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Brokoli ve havuç hafif örtü ile aralığa taşınabilir.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943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Ankara · Güzlük–Kışlık Sebze Yetiştiriciliği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KARŞILAŞTIRMA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Ekimden hasada ortalama gün sayısı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94360" y="1371600"/>
          <a:ext cx="68580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371600"/>
            <a:ext cx="3822192" cy="2057400"/>
          </a:xfrm>
          <a:prstGeom prst="roundRect">
            <a:avLst>
              <a:gd name="adj" fmla="val 4000"/>
            </a:avLst>
          </a:prstGeom>
          <a:solidFill>
            <a:srgbClr val="EDF3E6"/>
          </a:solidFill>
          <a:ln w="12700">
            <a:solidFill>
              <a:srgbClr val="EDF3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3"/>
          <p:cNvSpPr/>
          <p:nvPr/>
        </p:nvSpPr>
        <p:spPr>
          <a:xfrm>
            <a:off x="8010144" y="1527048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Planlamaya etkisi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046720" y="1901952"/>
            <a:ext cx="327355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Turp ve ıspanak, geç kalınan parselleri kurtarır.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Brokoli ve karnabaharda bir haftalık gecikme hasadı üç hafta öteler.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Pırasa ve soğan parseli uzun süre meşgul eder.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772400" y="3611880"/>
            <a:ext cx="3822192" cy="2057400"/>
          </a:xfrm>
          <a:prstGeom prst="roundRect">
            <a:avLst>
              <a:gd name="adj" fmla="val 4000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/>
          <p:nvPr/>
        </p:nvSpPr>
        <p:spPr>
          <a:xfrm>
            <a:off x="8010144" y="3767328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Aynı parselden iki ürün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046720" y="4142232"/>
            <a:ext cx="327355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Ağustosta turp, ekimde ıspanak ekilerek tek tavadan iki hasat alınır.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Erken hasat edilen brokoli sonrası ıspanak ekimi mümkündür.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Ardışık ekim toprağı boş bırakmamanın en kolay yoludur.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943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Ankara · Güzlük–Kışlık Sebze Yetiştiriciliği</a:t>
            </a:r>
            <a:endParaRPr lang="en-US" sz="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E3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188720"/>
            <a:ext cx="4206240" cy="420624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27492C"/>
          </a:solidFill>
          <a:ln w="12700">
            <a:solidFill>
              <a:srgbClr val="27492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594360" y="2057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24231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Bakım, Hasat ve Saklama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94360" y="34015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9D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Ekim işin başlangıcı; asıl fark bakımda ortaya çıkar.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97764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C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Sulama ve gübreleme ilkeleri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C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Hastalık ve zararlılarla doğal mücadele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C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Hasat zamanı ve kışın ürünü saklama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C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Sık yapılan yedi hata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Ankara · Güzlük–Kışlık Sebze Yetiştiriciliği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BAKIM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Sulama ve gübreleme ilkeleri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5349240" cy="2194560"/>
          </a:xfrm>
          <a:prstGeom prst="roundRect">
            <a:avLst>
              <a:gd name="adj" fmla="val 3750"/>
            </a:avLst>
          </a:prstGeom>
          <a:solidFill>
            <a:srgbClr val="EDF3E6"/>
          </a:solidFill>
          <a:ln w="12700">
            <a:solidFill>
              <a:srgbClr val="EDF3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832104" y="1572768"/>
            <a:ext cx="4873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Sulama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1947672"/>
            <a:ext cx="480060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3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Seyrek ve derin sulayın: yüzeysel sulama kökleri yukarıda tutar.</a:t>
            </a:r>
            <a:endParaRPr lang="en-US" sz="123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3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Sonbaharda sabah saatleri en uygun zamandır; akşam sulaması yaprakları gece ıslak bırakır.</a:t>
            </a:r>
            <a:endParaRPr lang="en-US" sz="123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3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Toprağın 5 cm altı kuruduğunda sulama zamanı gelmiştir.</a:t>
            </a:r>
            <a:endParaRPr lang="en-US" sz="123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3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Damla sulama hem su tasarrufu sağlar hem yaprak hastalıklarını azaltır.</a:t>
            </a:r>
            <a:endParaRPr lang="en-US" sz="1230" dirty="0"/>
          </a:p>
        </p:txBody>
      </p:sp>
      <p:sp>
        <p:nvSpPr>
          <p:cNvPr id="7" name="Shape 5"/>
          <p:cNvSpPr/>
          <p:nvPr/>
        </p:nvSpPr>
        <p:spPr>
          <a:xfrm>
            <a:off x="6217920" y="1417320"/>
            <a:ext cx="5349240" cy="2194560"/>
          </a:xfrm>
          <a:prstGeom prst="roundRect">
            <a:avLst>
              <a:gd name="adj" fmla="val 3750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6455664" y="1572768"/>
            <a:ext cx="4873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Gübreleme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1947672"/>
            <a:ext cx="480060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3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gübreleme ekim/dikim öncesi organik gübre ile yapılır.</a:t>
            </a:r>
            <a:endParaRPr lang="en-US" sz="123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3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Üst gübre bitkinin en hızlı büyüdüğü dönemde, kök bölgesinden 8–10 cm uzağa verilir.</a:t>
            </a:r>
            <a:endParaRPr lang="en-US" sz="123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3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Yapraklı sebzeler azot, kök sebzeler potasyum ister.</a:t>
            </a:r>
            <a:endParaRPr lang="en-US" sz="123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3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Gübre verdikten sonra mutlaka sulayın.</a:t>
            </a:r>
            <a:endParaRPr lang="en-US" sz="1230" dirty="0"/>
          </a:p>
        </p:txBody>
      </p:sp>
      <p:sp>
        <p:nvSpPr>
          <p:cNvPr id="10" name="Text 8"/>
          <p:cNvSpPr/>
          <p:nvPr/>
        </p:nvSpPr>
        <p:spPr>
          <a:xfrm>
            <a:off x="594360" y="3840480"/>
            <a:ext cx="11002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Gruplarına göre farklı davranın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94360" y="4224528"/>
            <a:ext cx="3521354" cy="1463040"/>
          </a:xfrm>
          <a:prstGeom prst="roundRect">
            <a:avLst>
              <a:gd name="adj" fmla="val 5625"/>
            </a:avLst>
          </a:prstGeom>
          <a:solidFill>
            <a:srgbClr val="EDF3E6"/>
          </a:solidFill>
          <a:ln w="12700">
            <a:solidFill>
              <a:srgbClr val="EDF3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813816" y="4370832"/>
            <a:ext cx="30824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Yaprak sebzeler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3816" y="4681728"/>
            <a:ext cx="30824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Ispanak, pırasa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3816" y="4974336"/>
            <a:ext cx="308244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3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Azot ağırlıklı besleme, sürekli nem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4335170" y="4224528"/>
            <a:ext cx="3521354" cy="1463040"/>
          </a:xfrm>
          <a:prstGeom prst="roundRect">
            <a:avLst>
              <a:gd name="adj" fmla="val 5625"/>
            </a:avLst>
          </a:prstGeom>
          <a:solidFill>
            <a:srgbClr val="EDF3E6"/>
          </a:solidFill>
          <a:ln w="12700">
            <a:solidFill>
              <a:srgbClr val="EDF3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4554626" y="4370832"/>
            <a:ext cx="30824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Kök sebzeler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54626" y="4681728"/>
            <a:ext cx="30824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Havuç, turp, soğan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54626" y="4974336"/>
            <a:ext cx="308244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3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azot, yeterli potasyum, düzenli su</a:t>
            </a:r>
            <a:endParaRPr lang="en-US" sz="1230" dirty="0"/>
          </a:p>
        </p:txBody>
      </p:sp>
      <p:sp>
        <p:nvSpPr>
          <p:cNvPr id="19" name="Shape 17"/>
          <p:cNvSpPr/>
          <p:nvPr/>
        </p:nvSpPr>
        <p:spPr>
          <a:xfrm>
            <a:off x="8075981" y="4224528"/>
            <a:ext cx="3521354" cy="1463040"/>
          </a:xfrm>
          <a:prstGeom prst="roundRect">
            <a:avLst>
              <a:gd name="adj" fmla="val 5625"/>
            </a:avLst>
          </a:prstGeom>
          <a:solidFill>
            <a:srgbClr val="EDF3E6"/>
          </a:solidFill>
          <a:ln w="12700">
            <a:solidFill>
              <a:srgbClr val="EDF3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8295437" y="4370832"/>
            <a:ext cx="30824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Baş sebzeler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95437" y="4681728"/>
            <a:ext cx="30824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Brokoli, karnabahar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95437" y="4974336"/>
            <a:ext cx="308244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3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Dengeli besleme, baş bağlamada kesintisiz su</a:t>
            </a:r>
            <a:endParaRPr lang="en-US" sz="1230" dirty="0"/>
          </a:p>
        </p:txBody>
      </p:sp>
      <p:sp>
        <p:nvSpPr>
          <p:cNvPr id="24" name="Text 21"/>
          <p:cNvSpPr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943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Ankara · Güzlük–Kışlık Sebze Yetiştiriciliği</a:t>
            </a:r>
            <a:endParaRPr lang="en-US" sz="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KORUMA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Hastalık ve zararlılarla doğal mücadele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3017520" cy="420624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758952" y="1417320"/>
            <a:ext cx="2761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11880" y="1417320"/>
            <a:ext cx="2743200" cy="420624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3776472" y="1417320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Etkilediği sebze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55080" y="1417320"/>
            <a:ext cx="5242255" cy="420624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6519672" y="1417320"/>
            <a:ext cx="498622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Doğal mücadele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1837944"/>
            <a:ext cx="3017520" cy="566928"/>
          </a:xfrm>
          <a:prstGeom prst="rect">
            <a:avLst/>
          </a:prstGeom>
          <a:solidFill>
            <a:srgbClr val="EDF3E6"/>
          </a:solidFill>
          <a:ln w="6350">
            <a:solidFill>
              <a:srgbClr val="DCE6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758952" y="1837944"/>
            <a:ext cx="2761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E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Lahana kelebeği tırtılı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11880" y="1837944"/>
            <a:ext cx="2743200" cy="566928"/>
          </a:xfrm>
          <a:prstGeom prst="rect">
            <a:avLst/>
          </a:prstGeom>
          <a:solidFill>
            <a:srgbClr val="EDF3E6"/>
          </a:solidFill>
          <a:ln w="6350">
            <a:solidFill>
              <a:srgbClr val="DCE6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3776472" y="1837944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Brokoli, karnabahar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55080" y="1837944"/>
            <a:ext cx="5242255" cy="566928"/>
          </a:xfrm>
          <a:prstGeom prst="rect">
            <a:avLst/>
          </a:prstGeom>
          <a:solidFill>
            <a:srgbClr val="EDF3E6"/>
          </a:solidFill>
          <a:ln w="6350">
            <a:solidFill>
              <a:srgbClr val="DCE6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6519672" y="1837944"/>
            <a:ext cx="498622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toplama, ince örtü, Bacillus thuringiensis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2404872"/>
            <a:ext cx="3017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6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758952" y="2404872"/>
            <a:ext cx="2761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E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Yaprak biti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11880" y="2404872"/>
            <a:ext cx="2743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6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3776472" y="2404872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türler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55080" y="2404872"/>
            <a:ext cx="5242255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6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6519672" y="2404872"/>
            <a:ext cx="498622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Basınçlı su, arap sabunu çözeltisi, uğur böceği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" y="2971800"/>
            <a:ext cx="3017520" cy="566928"/>
          </a:xfrm>
          <a:prstGeom prst="rect">
            <a:avLst/>
          </a:prstGeom>
          <a:solidFill>
            <a:srgbClr val="EDF3E6"/>
          </a:solidFill>
          <a:ln w="6350">
            <a:solidFill>
              <a:srgbClr val="DCE6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758952" y="2971800"/>
            <a:ext cx="2761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E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Toprak piresi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11880" y="2971800"/>
            <a:ext cx="2743200" cy="566928"/>
          </a:xfrm>
          <a:prstGeom prst="rect">
            <a:avLst/>
          </a:prstGeom>
          <a:solidFill>
            <a:srgbClr val="EDF3E6"/>
          </a:solidFill>
          <a:ln w="6350">
            <a:solidFill>
              <a:srgbClr val="DCE6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3776472" y="2971800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Turp, roka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55080" y="2971800"/>
            <a:ext cx="5242255" cy="566928"/>
          </a:xfrm>
          <a:prstGeom prst="rect">
            <a:avLst/>
          </a:prstGeom>
          <a:solidFill>
            <a:srgbClr val="EDF3E6"/>
          </a:solidFill>
          <a:ln w="6350">
            <a:solidFill>
              <a:srgbClr val="DCE6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6519672" y="2971800"/>
            <a:ext cx="498622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İnce örtü, toprağı nemli tutmak, erken ekim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94360" y="3538728"/>
            <a:ext cx="3017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6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758952" y="3538728"/>
            <a:ext cx="2761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E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Havuç sineği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11880" y="3538728"/>
            <a:ext cx="2743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6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3776472" y="3538728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Havuç, maydanoz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355080" y="3538728"/>
            <a:ext cx="5242255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6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6519672" y="3538728"/>
            <a:ext cx="498622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Münavebe, 60 cm yüksekliğinde örtü, soğanla karışık ekim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94360" y="4105656"/>
            <a:ext cx="3017520" cy="566928"/>
          </a:xfrm>
          <a:prstGeom prst="rect">
            <a:avLst/>
          </a:prstGeom>
          <a:solidFill>
            <a:srgbClr val="EDF3E6"/>
          </a:solidFill>
          <a:ln w="6350">
            <a:solidFill>
              <a:srgbClr val="DCE6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758952" y="4105656"/>
            <a:ext cx="2761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E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Mildiyö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11880" y="4105656"/>
            <a:ext cx="2743200" cy="566928"/>
          </a:xfrm>
          <a:prstGeom prst="rect">
            <a:avLst/>
          </a:prstGeom>
          <a:solidFill>
            <a:srgbClr val="EDF3E6"/>
          </a:solidFill>
          <a:ln w="6350">
            <a:solidFill>
              <a:srgbClr val="DCE6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/>
          <p:nvPr/>
        </p:nvSpPr>
        <p:spPr>
          <a:xfrm>
            <a:off x="3776472" y="4105656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Ispanak, soğan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355080" y="4105656"/>
            <a:ext cx="5242255" cy="566928"/>
          </a:xfrm>
          <a:prstGeom prst="rect">
            <a:avLst/>
          </a:prstGeom>
          <a:solidFill>
            <a:srgbClr val="EDF3E6"/>
          </a:solidFill>
          <a:ln w="6350">
            <a:solidFill>
              <a:srgbClr val="DCE6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 37"/>
          <p:cNvSpPr/>
          <p:nvPr/>
        </p:nvSpPr>
        <p:spPr>
          <a:xfrm>
            <a:off x="6519672" y="4105656"/>
            <a:ext cx="498622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Seyreltme, sabah sulama, dayanıklı çeşit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94360" y="4672584"/>
            <a:ext cx="3017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6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Text 39"/>
          <p:cNvSpPr/>
          <p:nvPr/>
        </p:nvSpPr>
        <p:spPr>
          <a:xfrm>
            <a:off x="758952" y="4672584"/>
            <a:ext cx="2761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E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Kök uru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611880" y="4672584"/>
            <a:ext cx="2743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6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Text 41"/>
          <p:cNvSpPr/>
          <p:nvPr/>
        </p:nvSpPr>
        <p:spPr>
          <a:xfrm>
            <a:off x="3776472" y="4672584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Turpgiller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355080" y="4672584"/>
            <a:ext cx="5242255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6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5" name="Text 43"/>
          <p:cNvSpPr/>
          <p:nvPr/>
        </p:nvSpPr>
        <p:spPr>
          <a:xfrm>
            <a:off x="6519672" y="4672584"/>
            <a:ext cx="498622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4–7 yıl münavebe, pH'ı 7'ye çekmek, temiz fide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94360" y="5486400"/>
            <a:ext cx="11002975" cy="777240"/>
          </a:xfrm>
          <a:prstGeom prst="roundRect">
            <a:avLst>
              <a:gd name="adj" fmla="val 10588"/>
            </a:avLst>
          </a:prstGeom>
          <a:solidFill>
            <a:srgbClr val="E8EFDF"/>
          </a:solidFill>
          <a:ln w="12700">
            <a:solidFill>
              <a:srgbClr val="E8EFD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7" name="Text 45"/>
          <p:cNvSpPr/>
          <p:nvPr/>
        </p:nvSpPr>
        <p:spPr>
          <a:xfrm>
            <a:off x="868680" y="5687568"/>
            <a:ext cx="10454335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8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 önlem: münavebe, temiz tohum ve fide, doğru sıklık ve dengeli sulama hastalıkların büyük kısmını daha çıkmadan engeller.</a:t>
            </a:r>
            <a:endParaRPr lang="en-US" sz="1280" dirty="0"/>
          </a:p>
        </p:txBody>
      </p:sp>
      <p:sp>
        <p:nvSpPr>
          <p:cNvPr id="49" name="Text 46"/>
          <p:cNvSpPr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5943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Ankara · Güzlük–Kışlık Sebze Yetiştiriciliği</a:t>
            </a:r>
            <a:endParaRPr lang="en-US" sz="9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ALMA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Hasat ve kışın ürünü saklama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3538728" cy="2377440"/>
          </a:xfrm>
          <a:prstGeom prst="roundRect">
            <a:avLst>
              <a:gd name="adj" fmla="val 3462"/>
            </a:avLst>
          </a:prstGeom>
          <a:solidFill>
            <a:srgbClr val="EDF3E6"/>
          </a:solidFill>
          <a:ln w="12700">
            <a:solidFill>
              <a:srgbClr val="EDF3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832104" y="1572768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Hasat kuralları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1947672"/>
            <a:ext cx="2990088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Sabah serinliğinde toplayın; ürün daha uzun dayanır.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Donmuş bitkiyi toplamayın, gün ısındıktan sonra hasat edin.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Keskin bıçak veya makas kullanın; koparmak bitkiyi yaralar.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Zedelenmiş ürünü ayırın, saklamaya koymayın.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1417320"/>
            <a:ext cx="3538728" cy="2377440"/>
          </a:xfrm>
          <a:prstGeom prst="roundRect">
            <a:avLst>
              <a:gd name="adj" fmla="val 3462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4581144" y="1572768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Toprakta saklama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17720" y="1947672"/>
            <a:ext cx="2990088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Pırasa ve havuç kış boyunca toprakta bırakılabilir.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Üzerine 10–15 cm sap–saman malç serilir.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İhtiyaç kadar sökülür, kalan ürün toprakta bekler.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sert kışlarda malç üzerine ayrıca örtü çekilir.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92440" y="1417320"/>
            <a:ext cx="3502152" cy="2377440"/>
          </a:xfrm>
          <a:prstGeom prst="roundRect">
            <a:avLst>
              <a:gd name="adj" fmla="val 3462"/>
            </a:avLst>
          </a:prstGeom>
          <a:solidFill>
            <a:srgbClr val="EDF3E6"/>
          </a:solidFill>
          <a:ln w="12700">
            <a:solidFill>
              <a:srgbClr val="EDF3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8330184" y="1572768"/>
            <a:ext cx="3026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Kum içinde saklama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66760" y="1947672"/>
            <a:ext cx="2953512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Havuç ve kışlık turp için en iyi yöntem.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Yaprakları kesilir, kök yıkanmadan hafif nemli kuma gömülür.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0–4 °C serin bir depoda 3–4 ay dayanır.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Kökler birbirine değmemelidir.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977640"/>
            <a:ext cx="11002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Saklama koşulları ve dayanma süreleri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4360" y="4370832"/>
            <a:ext cx="11002975" cy="365760"/>
          </a:xfrm>
          <a:prstGeom prst="rect">
            <a:avLst/>
          </a:prstGeom>
          <a:solidFill>
            <a:srgbClr val="EDF3E6"/>
          </a:solidFill>
          <a:ln w="6350">
            <a:solidFill>
              <a:srgbClr val="DCE6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777240" y="43708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Soğan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11880" y="43708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0–4 °C · %65 nem · karanlık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89720" y="43708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 ay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" y="4736592"/>
            <a:ext cx="11002975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CE6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777240" y="47365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Havuç, turp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11880" y="473659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 °C · %90 nem · kum içinde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89720" y="47365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ay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" y="5102352"/>
            <a:ext cx="11002975" cy="365760"/>
          </a:xfrm>
          <a:prstGeom prst="rect">
            <a:avLst/>
          </a:prstGeom>
          <a:solidFill>
            <a:srgbClr val="EDF3E6"/>
          </a:solidFill>
          <a:ln w="6350">
            <a:solidFill>
              <a:srgbClr val="DCE6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777240" y="51023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Karnabahar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11880" y="51023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 °C · %90 nem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89720" y="51023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hafta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4360" y="5468112"/>
            <a:ext cx="11002975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CE6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777240" y="54681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Brokoli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11880" y="54681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°C · %95 nem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89720" y="54681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10–14 gün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94360" y="5833872"/>
            <a:ext cx="11002975" cy="365760"/>
          </a:xfrm>
          <a:prstGeom prst="rect">
            <a:avLst/>
          </a:prstGeom>
          <a:solidFill>
            <a:srgbClr val="EDF3E6"/>
          </a:solidFill>
          <a:ln w="6350">
            <a:solidFill>
              <a:srgbClr val="DCE6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777240" y="58338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Ispanak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611880" y="58338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°C · %95 nem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189720" y="58338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8–10 gün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5943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Ankara · Güzlük–Kışlık Sebze Yetiştiriciliği</a:t>
            </a:r>
            <a:endParaRPr lang="en-US" sz="9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DIKKAT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Sık yapılan yedi hata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EDF3E6"/>
          </a:solidFill>
          <a:ln w="12700">
            <a:solidFill>
              <a:srgbClr val="EDF3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813816" y="1673352"/>
            <a:ext cx="438912" cy="438912"/>
          </a:xfrm>
          <a:prstGeom prst="ellipse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813816" y="16733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99032" y="154533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Geç ekim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99032" y="181965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8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Sonbaharda bir hafta gecikme, kısalan günler nedeniyle hasadı üç hafta öteler.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594360" y="251460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813816" y="2770632"/>
            <a:ext cx="438912" cy="438912"/>
          </a:xfrm>
          <a:prstGeom prst="ellipse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813816" y="27706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99032" y="264261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Seyreltme yapmamak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99032" y="291693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8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Sık kalan turp, havuç ve ıspanak kök bağlamaz, sadece yaprak yapar.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594360" y="361188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EDF3E6"/>
          </a:solidFill>
          <a:ln w="12700">
            <a:solidFill>
              <a:srgbClr val="EDF3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813816" y="3867912"/>
            <a:ext cx="438912" cy="438912"/>
          </a:xfrm>
          <a:prstGeom prst="ellipse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813816" y="38679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99032" y="373989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Taze gübre kullanmak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99032" y="401421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8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Havuçta çatallanma, soğanda çürüklük ve her türde yabancı ot sorunu yaratır.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594360" y="470916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813816" y="4965192"/>
            <a:ext cx="438912" cy="438912"/>
          </a:xfrm>
          <a:prstGeom prst="ellipse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813816" y="49651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99032" y="483717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Aynı yere aynı familya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99032" y="511149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8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Toprak yorulur, kök uru ve nematod gibi sorunlar kalıcı hale gelir.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6217920" y="141732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EDF3E6"/>
          </a:solidFill>
          <a:ln w="12700">
            <a:solidFill>
              <a:srgbClr val="EDF3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6437376" y="1673352"/>
            <a:ext cx="438912" cy="438912"/>
          </a:xfrm>
          <a:prstGeom prst="ellipse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6437376" y="16733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22592" y="154533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Yüzeysel ve sık sulama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022592" y="181965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8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Kökler yüzeyde kalır; ilk kuraklıkta ya da donda bitki hemen etkilenir.</a:t>
            </a:r>
            <a:endParaRPr lang="en-US" sz="1180" dirty="0"/>
          </a:p>
        </p:txBody>
      </p:sp>
      <p:sp>
        <p:nvSpPr>
          <p:cNvPr id="29" name="Shape 27"/>
          <p:cNvSpPr/>
          <p:nvPr/>
        </p:nvSpPr>
        <p:spPr>
          <a:xfrm>
            <a:off x="6217920" y="251460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F7F4EC"/>
          </a:solidFill>
          <a:ln w="12700">
            <a:solidFill>
              <a:srgbClr val="F7F4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6437376" y="2770632"/>
            <a:ext cx="438912" cy="438912"/>
          </a:xfrm>
          <a:prstGeom prst="ellipse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6437376" y="27706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022592" y="264261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Toprağı çıplak bırakmak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022592" y="291693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8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Kış yağmurları besinleri yıkar, yüzey kaymak bağlar, erozyon başlar.</a:t>
            </a:r>
            <a:endParaRPr lang="en-US" sz="1180" dirty="0"/>
          </a:p>
        </p:txBody>
      </p:sp>
      <p:sp>
        <p:nvSpPr>
          <p:cNvPr id="34" name="Shape 32"/>
          <p:cNvSpPr/>
          <p:nvPr/>
        </p:nvSpPr>
        <p:spPr>
          <a:xfrm>
            <a:off x="6217920" y="361188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EDF3E6"/>
          </a:solidFill>
          <a:ln w="12700">
            <a:solidFill>
              <a:srgbClr val="EDF3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Shape 33"/>
          <p:cNvSpPr/>
          <p:nvPr/>
        </p:nvSpPr>
        <p:spPr>
          <a:xfrm>
            <a:off x="6437376" y="3867912"/>
            <a:ext cx="438912" cy="438912"/>
          </a:xfrm>
          <a:prstGeom prst="ellipse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6437376" y="38679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022592" y="373989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Kayıt tutmamak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022592" y="401421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8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Hangi çeşit ne zaman ekildi, ne verim aldı bilinmezse her yıl sıfırdan başlanır.</a:t>
            </a:r>
            <a:endParaRPr lang="en-US" sz="1180" dirty="0"/>
          </a:p>
        </p:txBody>
      </p:sp>
      <p:sp>
        <p:nvSpPr>
          <p:cNvPr id="40" name="Text 37"/>
          <p:cNvSpPr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5943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Ankara · Güzlük–Kışlık Sebze Yetiştiriciliği</a:t>
            </a:r>
            <a:endParaRPr lang="en-US" sz="9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E3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572000" cy="45720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10424160" y="3931920"/>
            <a:ext cx="3108960" cy="3108960"/>
          </a:xfrm>
          <a:prstGeom prst="ellipse">
            <a:avLst/>
          </a:prstGeom>
          <a:solidFill>
            <a:srgbClr val="27492C"/>
          </a:solidFill>
          <a:ln w="12700">
            <a:solidFill>
              <a:srgbClr val="27492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594360" y="685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10058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Aklınızda kalsın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94360" y="1947672"/>
            <a:ext cx="402336" cy="402336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594360" y="1947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97864" y="19202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Takvim her şeydir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60520" y="1901952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30" dirty="0">
                <a:solidFill>
                  <a:srgbClr val="C9D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Ankara'da ilk don ekim ortasında gelir; ekim ve dikim tarihini buna göre geriye doğru hesaplayın.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594360" y="2660904"/>
            <a:ext cx="402336" cy="402336"/>
          </a:xfrm>
          <a:prstGeom prst="ellipse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594360" y="26609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97864" y="263347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Tohumu tanıyın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160520" y="2615184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30" dirty="0">
                <a:solidFill>
                  <a:srgbClr val="C9D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Çimlenme testi yapın, doğru saklayın, bölgeye uyumlu çeşit seçin.</a:t>
            </a:r>
            <a:endParaRPr lang="en-US" sz="1230" dirty="0"/>
          </a:p>
        </p:txBody>
      </p:sp>
      <p:sp>
        <p:nvSpPr>
          <p:cNvPr id="14" name="Shape 12"/>
          <p:cNvSpPr/>
          <p:nvPr/>
        </p:nvSpPr>
        <p:spPr>
          <a:xfrm>
            <a:off x="594360" y="3374136"/>
            <a:ext cx="402336" cy="402336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594360" y="33741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97864" y="334670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Toprağı besleyin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160520" y="3328416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30" dirty="0">
                <a:solidFill>
                  <a:srgbClr val="C9D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Kompost, yeşil gübre ve münavebe uzun vadede gübreden daha etkilidir.</a:t>
            </a:r>
            <a:endParaRPr lang="en-US" sz="1230" dirty="0"/>
          </a:p>
        </p:txBody>
      </p:sp>
      <p:sp>
        <p:nvSpPr>
          <p:cNvPr id="18" name="Shape 16"/>
          <p:cNvSpPr/>
          <p:nvPr/>
        </p:nvSpPr>
        <p:spPr>
          <a:xfrm>
            <a:off x="594360" y="4087368"/>
            <a:ext cx="402336" cy="402336"/>
          </a:xfrm>
          <a:prstGeom prst="ellipse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594360" y="4087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97864" y="405993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Seyreltmeyi atlamayın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160520" y="4041648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30" dirty="0">
                <a:solidFill>
                  <a:srgbClr val="C9D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Kök sebzelerde ürünü belirleyen tek işlem seyreltmedir.</a:t>
            </a:r>
            <a:endParaRPr lang="en-US" sz="1230" dirty="0"/>
          </a:p>
        </p:txBody>
      </p:sp>
      <p:sp>
        <p:nvSpPr>
          <p:cNvPr id="22" name="Shape 20"/>
          <p:cNvSpPr/>
          <p:nvPr/>
        </p:nvSpPr>
        <p:spPr>
          <a:xfrm>
            <a:off x="594360" y="4800600"/>
            <a:ext cx="402336" cy="402336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594360" y="4800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97864" y="477316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Kışı planlayın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160520" y="475488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30" dirty="0">
                <a:solidFill>
                  <a:srgbClr val="C9D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Pırasa, ıspanak ve soğan tarlada kalır; karnabahar ve turp donlardan önce toplanır.</a:t>
            </a:r>
            <a:endParaRPr lang="en-US" sz="1230" dirty="0"/>
          </a:p>
        </p:txBody>
      </p:sp>
      <p:sp>
        <p:nvSpPr>
          <p:cNvPr id="26" name="Text 24"/>
          <p:cNvSpPr/>
          <p:nvPr/>
        </p:nvSpPr>
        <p:spPr>
          <a:xfrm>
            <a:off x="594360" y="58064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Çankaya Belediyesi Park ve Bahçeler Müdürlüğü  ·  0312 235 39 73  ·  @kenttarim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943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Ankara · Güzlük–Kışlık Sebze Yetiştiriciliği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Geniş ekran</PresentationFormat>
  <Paragraphs>0</Paragraphs>
  <Slides>41</Slides>
  <Notes>41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41</vt:i4>
      </vt:variant>
    </vt:vector>
  </HeadingPairs>
  <TitlesOfParts>
    <vt:vector size="42" baseType="lpstr"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Ankara'da Güzlük ve Kışlık Sebze Yetiştiriciliği</dc:title>
  <dc:subject>PptxGenJS Presentation</dc:subject>
  <dc:creator>Çankaya Belediyesi Park ve Bahçeler Müdürlüğü</dc:creator>
  <cp:lastModifiedBy>sertac hekim</cp:lastModifiedBy>
  <cp:revision>2</cp:revision>
  <dcterms:created xsi:type="dcterms:W3CDTF">2026-08-18T18:38:05Z</dcterms:created>
  <dcterms:modified xsi:type="dcterms:W3CDTF">2026-08-18T18:52:54Z</dcterms:modified>
</cp:coreProperties>
</file>